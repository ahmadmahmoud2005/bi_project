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9" d="100"/>
          <a:sy n="99" d="100"/>
        </p:scale>
        <p:origin x="54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D3580"/>
                </a:solidFill>
                <a:latin typeface="Arial"/>
              </a:defRPr>
            </a:pPr>
            <a:r>
              <a:rPr lang="en-US" sz="1100" b="0" i="0" u="none" strike="noStrike">
                <a:solidFill>
                  <a:srgbClr val="0D3580"/>
                </a:solidFill>
                <a:latin typeface="Arial"/>
              </a:rPr>
              <a:t>Sales by Category ($K)</a:t>
            </a:r>
          </a:p>
        </c:rich>
      </c:tx>
      <c:overlay val="0"/>
    </c:title>
    <c:autoTitleDeleted val="0"/>
    <c:plotArea>
      <c:layout/>
      <c:barChart>
        <c:barDir val="col"/>
        <c:grouping val="clustered"/>
        <c:varyColors val="0"/>
        <c:ser>
          <c:idx val="0"/>
          <c:order val="0"/>
          <c:tx>
            <c:strRef>
              <c:f>Sheet1!$B$1</c:f>
              <c:strCache>
                <c:ptCount val="1"/>
                <c:pt idx="0">
                  <c:v>Total Sales ($K)</c:v>
                </c:pt>
              </c:strCache>
            </c:strRef>
          </c:tx>
          <c:spPr>
            <a:solidFill>
              <a:srgbClr val="0D7AB5"/>
            </a:solidFill>
            <a:effectLst/>
          </c:spPr>
          <c:invertIfNegative val="0"/>
          <c:dPt>
            <c:idx val="0"/>
            <c:invertIfNegative val="0"/>
            <c:bubble3D val="0"/>
            <c:extLst>
              <c:ext xmlns:c16="http://schemas.microsoft.com/office/drawing/2014/chart" uri="{C3380CC4-5D6E-409C-BE32-E72D297353CC}">
                <c16:uniqueId val="{00000001-B300-41C4-AD67-32FF3AA1DEBC}"/>
              </c:ext>
            </c:extLst>
          </c:dPt>
          <c:dPt>
            <c:idx val="1"/>
            <c:invertIfNegative val="0"/>
            <c:bubble3D val="0"/>
            <c:spPr>
              <a:solidFill>
                <a:srgbClr val="0D3580"/>
              </a:solidFill>
              <a:effectLst/>
            </c:spPr>
            <c:extLst>
              <c:ext xmlns:c16="http://schemas.microsoft.com/office/drawing/2014/chart" uri="{C3380CC4-5D6E-409C-BE32-E72D297353CC}">
                <c16:uniqueId val="{00000003-B300-41C4-AD67-32FF3AA1DEBC}"/>
              </c:ext>
            </c:extLst>
          </c:dPt>
          <c:dPt>
            <c:idx val="2"/>
            <c:invertIfNegative val="0"/>
            <c:bubble3D val="0"/>
            <c:spPr>
              <a:solidFill>
                <a:srgbClr val="7C3AED"/>
              </a:solidFill>
              <a:effectLst/>
            </c:spPr>
            <c:extLst>
              <c:ext xmlns:c16="http://schemas.microsoft.com/office/drawing/2014/chart" uri="{C3380CC4-5D6E-409C-BE32-E72D297353CC}">
                <c16:uniqueId val="{00000005-B300-41C4-AD67-32FF3AA1DEBC}"/>
              </c:ext>
            </c:extLst>
          </c:dPt>
          <c:dLbls>
            <c:numFmt formatCode="#,##0" sourceLinked="0"/>
            <c:spPr>
              <a:noFill/>
              <a:ln>
                <a:noFill/>
              </a:ln>
              <a:effectLst/>
            </c:spPr>
            <c:txPr>
              <a:bodyPr/>
              <a:lstStyle/>
              <a:p>
                <a:pPr>
                  <a:defRPr sz="1200" b="0" i="0" u="none" strike="noStrike">
                    <a:solidFill>
                      <a:srgbClr val="0D358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Technology</c:v>
                </c:pt>
                <c:pt idx="1">
                  <c:v>Furniture</c:v>
                </c:pt>
                <c:pt idx="2">
                  <c:v>Office Supplies</c:v>
                </c:pt>
              </c:strCache>
            </c:strRef>
          </c:cat>
          <c:val>
            <c:numRef>
              <c:f>Sheet1!$B$2:$B$4</c:f>
              <c:numCache>
                <c:formatCode>General</c:formatCode>
                <c:ptCount val="3"/>
                <c:pt idx="0">
                  <c:v>836</c:v>
                </c:pt>
                <c:pt idx="1">
                  <c:v>742</c:v>
                </c:pt>
                <c:pt idx="2">
                  <c:v>719</c:v>
                </c:pt>
              </c:numCache>
            </c:numRef>
          </c:val>
          <c:extLst>
            <c:ext xmlns:c16="http://schemas.microsoft.com/office/drawing/2014/chart" uri="{C3380CC4-5D6E-409C-BE32-E72D297353CC}">
              <c16:uniqueId val="{00000006-B300-41C4-AD67-32FF3AA1DEB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D3580"/>
                </a:solidFill>
                <a:latin typeface="Arial"/>
              </a:defRPr>
            </a:pPr>
            <a:r>
              <a:rPr lang="en-US" sz="1100" b="0" i="0" u="none" strike="noStrike">
                <a:solidFill>
                  <a:srgbClr val="0D3580"/>
                </a:solidFill>
                <a:latin typeface="Arial"/>
              </a:rPr>
              <a:t>Sales Mix by Segment</a:t>
            </a:r>
          </a:p>
        </c:rich>
      </c:tx>
      <c:overlay val="0"/>
    </c:title>
    <c:autoTitleDeleted val="0"/>
    <c:plotArea>
      <c:layout/>
      <c:pieChart>
        <c:varyColors val="1"/>
        <c:ser>
          <c:idx val="0"/>
          <c:order val="0"/>
          <c:tx>
            <c:strRef>
              <c:f>Sheet1!$B$1</c:f>
              <c:strCache>
                <c:ptCount val="1"/>
                <c:pt idx="0">
                  <c:v>Sales Share</c:v>
                </c:pt>
              </c:strCache>
            </c:strRef>
          </c:tx>
          <c:spPr>
            <a:solidFill>
              <a:schemeClr val="accent1"/>
            </a:solidFill>
            <a:ln w="9525" cap="flat">
              <a:solidFill>
                <a:srgbClr val="F9F9F9"/>
              </a:solidFill>
              <a:prstDash val="solid"/>
              <a:round/>
            </a:ln>
            <a:effectLst/>
          </c:spPr>
          <c:dPt>
            <c:idx val="0"/>
            <c:bubble3D val="0"/>
            <c:spPr>
              <a:solidFill>
                <a:srgbClr val="0D7AB5"/>
              </a:solidFill>
              <a:effectLst/>
            </c:spPr>
            <c:extLst>
              <c:ext xmlns:c16="http://schemas.microsoft.com/office/drawing/2014/chart" uri="{C3380CC4-5D6E-409C-BE32-E72D297353CC}">
                <c16:uniqueId val="{00000001-9986-4BA6-A226-117E5F697853}"/>
              </c:ext>
            </c:extLst>
          </c:dPt>
          <c:dPt>
            <c:idx val="1"/>
            <c:bubble3D val="0"/>
            <c:spPr>
              <a:solidFill>
                <a:srgbClr val="0D3580"/>
              </a:solidFill>
              <a:effectLst/>
            </c:spPr>
            <c:extLst>
              <c:ext xmlns:c16="http://schemas.microsoft.com/office/drawing/2014/chart" uri="{C3380CC4-5D6E-409C-BE32-E72D297353CC}">
                <c16:uniqueId val="{00000003-9986-4BA6-A226-117E5F697853}"/>
              </c:ext>
            </c:extLst>
          </c:dPt>
          <c:dPt>
            <c:idx val="2"/>
            <c:bubble3D val="0"/>
            <c:spPr>
              <a:solidFill>
                <a:srgbClr val="7C3AED"/>
              </a:solidFill>
              <a:effectLst/>
            </c:spPr>
            <c:extLst>
              <c:ext xmlns:c16="http://schemas.microsoft.com/office/drawing/2014/chart" uri="{C3380CC4-5D6E-409C-BE32-E72D297353CC}">
                <c16:uniqueId val="{00000005-9986-4BA6-A226-117E5F697853}"/>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986-4BA6-A226-117E5F697853}"/>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986-4BA6-A226-117E5F697853}"/>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986-4BA6-A226-117E5F697853}"/>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Consumer</c:v>
                </c:pt>
                <c:pt idx="1">
                  <c:v>Corporate</c:v>
                </c:pt>
                <c:pt idx="2">
                  <c:v>Home Office</c:v>
                </c:pt>
              </c:strCache>
            </c:strRef>
          </c:cat>
          <c:val>
            <c:numRef>
              <c:f>Sheet1!$B$2:$B$4</c:f>
              <c:numCache>
                <c:formatCode>General</c:formatCode>
                <c:ptCount val="3"/>
                <c:pt idx="0">
                  <c:v>51</c:v>
                </c:pt>
                <c:pt idx="1">
                  <c:v>30</c:v>
                </c:pt>
                <c:pt idx="2">
                  <c:v>19</c:v>
                </c:pt>
              </c:numCache>
            </c:numRef>
          </c:val>
          <c:extLst>
            <c:ext xmlns:c16="http://schemas.microsoft.com/office/drawing/2014/chart" uri="{C3380CC4-5D6E-409C-BE32-E72D297353CC}">
              <c16:uniqueId val="{00000006-9986-4BA6-A226-117E5F697853}"/>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D3580"/>
                </a:solidFill>
                <a:latin typeface="Arial"/>
              </a:defRPr>
            </a:pPr>
            <a:r>
              <a:rPr lang="en-US" sz="1100" b="0" i="0" u="none" strike="noStrike">
                <a:solidFill>
                  <a:srgbClr val="0D3580"/>
                </a:solidFill>
                <a:latin typeface="Arial"/>
              </a:rPr>
              <a:t>Sales &amp; Profit by Region ($K)</a:t>
            </a:r>
          </a:p>
        </c:rich>
      </c:tx>
      <c:overlay val="0"/>
    </c:title>
    <c:autoTitleDeleted val="0"/>
    <c:plotArea>
      <c:layout/>
      <c:barChart>
        <c:barDir val="col"/>
        <c:grouping val="clustered"/>
        <c:varyColors val="0"/>
        <c:ser>
          <c:idx val="0"/>
          <c:order val="0"/>
          <c:tx>
            <c:strRef>
              <c:f>Sheet1!$B$1</c:f>
              <c:strCache>
                <c:ptCount val="1"/>
                <c:pt idx="0">
                  <c:v>Total Sales ($K)</c:v>
                </c:pt>
              </c:strCache>
            </c:strRef>
          </c:tx>
          <c:spPr>
            <a:solidFill>
              <a:srgbClr val="0D3580"/>
            </a:solidFill>
            <a:effectLst/>
          </c:spPr>
          <c:invertIfNegative val="0"/>
          <c:cat>
            <c:strRef>
              <c:f>Sheet1!$A$2:$A$5</c:f>
              <c:strCache>
                <c:ptCount val="4"/>
                <c:pt idx="0">
                  <c:v>West</c:v>
                </c:pt>
                <c:pt idx="1">
                  <c:v>East</c:v>
                </c:pt>
                <c:pt idx="2">
                  <c:v>Central</c:v>
                </c:pt>
                <c:pt idx="3">
                  <c:v>South</c:v>
                </c:pt>
              </c:strCache>
            </c:strRef>
          </c:cat>
          <c:val>
            <c:numRef>
              <c:f>Sheet1!$B$2:$B$5</c:f>
              <c:numCache>
                <c:formatCode>General</c:formatCode>
                <c:ptCount val="4"/>
                <c:pt idx="0">
                  <c:v>726</c:v>
                </c:pt>
                <c:pt idx="1">
                  <c:v>679</c:v>
                </c:pt>
                <c:pt idx="2">
                  <c:v>502</c:v>
                </c:pt>
                <c:pt idx="3">
                  <c:v>392</c:v>
                </c:pt>
              </c:numCache>
            </c:numRef>
          </c:val>
          <c:extLst>
            <c:ext xmlns:c16="http://schemas.microsoft.com/office/drawing/2014/chart" uri="{C3380CC4-5D6E-409C-BE32-E72D297353CC}">
              <c16:uniqueId val="{00000000-1053-4EA3-94EB-41C8306A2339}"/>
            </c:ext>
          </c:extLst>
        </c:ser>
        <c:ser>
          <c:idx val="1"/>
          <c:order val="1"/>
          <c:tx>
            <c:strRef>
              <c:f>Sheet1!$C$1</c:f>
              <c:strCache>
                <c:ptCount val="1"/>
                <c:pt idx="0">
                  <c:v>Total Profit ($K)</c:v>
                </c:pt>
              </c:strCache>
            </c:strRef>
          </c:tx>
          <c:spPr>
            <a:solidFill>
              <a:srgbClr val="FFC220"/>
            </a:solidFill>
            <a:effectLst/>
          </c:spPr>
          <c:invertIfNegative val="0"/>
          <c:cat>
            <c:strRef>
              <c:f>Sheet1!$A$2:$A$5</c:f>
              <c:strCache>
                <c:ptCount val="4"/>
                <c:pt idx="0">
                  <c:v>West</c:v>
                </c:pt>
                <c:pt idx="1">
                  <c:v>East</c:v>
                </c:pt>
                <c:pt idx="2">
                  <c:v>Central</c:v>
                </c:pt>
                <c:pt idx="3">
                  <c:v>South</c:v>
                </c:pt>
              </c:strCache>
            </c:strRef>
          </c:cat>
          <c:val>
            <c:numRef>
              <c:f>Sheet1!$C$2:$C$5</c:f>
              <c:numCache>
                <c:formatCode>General</c:formatCode>
                <c:ptCount val="4"/>
                <c:pt idx="0">
                  <c:v>109</c:v>
                </c:pt>
                <c:pt idx="1">
                  <c:v>92</c:v>
                </c:pt>
                <c:pt idx="2">
                  <c:v>40</c:v>
                </c:pt>
                <c:pt idx="3">
                  <c:v>47</c:v>
                </c:pt>
              </c:numCache>
            </c:numRef>
          </c:val>
          <c:extLst>
            <c:ext xmlns:c16="http://schemas.microsoft.com/office/drawing/2014/chart" uri="{C3380CC4-5D6E-409C-BE32-E72D297353CC}">
              <c16:uniqueId val="{00000001-1053-4EA3-94EB-41C8306A233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D3580"/>
                </a:solidFill>
                <a:latin typeface="Arial"/>
              </a:defRPr>
            </a:pPr>
            <a:r>
              <a:rPr lang="en-US" sz="1000" b="0" i="0" u="none" strike="noStrike">
                <a:solidFill>
                  <a:srgbClr val="0D3580"/>
                </a:solidFill>
                <a:latin typeface="Arial"/>
              </a:rPr>
              <a:t>Avg Profit vs. Discount Rate</a:t>
            </a:r>
          </a:p>
        </c:rich>
      </c:tx>
      <c:overlay val="0"/>
    </c:title>
    <c:autoTitleDeleted val="0"/>
    <c:plotArea>
      <c:layout/>
      <c:lineChart>
        <c:grouping val="standard"/>
        <c:varyColors val="0"/>
        <c:ser>
          <c:idx val="0"/>
          <c:order val="0"/>
          <c:tx>
            <c:strRef>
              <c:f>Sheet1!$B$1</c:f>
              <c:strCache>
                <c:ptCount val="1"/>
                <c:pt idx="0">
                  <c:v>Avg Profit ($)</c:v>
                </c:pt>
              </c:strCache>
            </c:strRef>
          </c:tx>
          <c:spPr>
            <a:ln w="31750" cap="flat">
              <a:solidFill>
                <a:srgbClr val="C0392B"/>
              </a:solidFill>
              <a:prstDash val="solid"/>
              <a:round/>
            </a:ln>
            <a:effectLst/>
          </c:spPr>
          <c:marker>
            <c:symbol val="circle"/>
            <c:size val="6"/>
            <c:spPr>
              <a:solidFill>
                <a:srgbClr val="C0392B"/>
              </a:solidFill>
              <a:ln w="9525" cap="flat">
                <a:solidFill>
                  <a:srgbClr val="C0392B"/>
                </a:solidFill>
                <a:prstDash val="solid"/>
                <a:round/>
              </a:ln>
              <a:effectLst/>
            </c:spPr>
          </c:marker>
          <c:cat>
            <c:strRef>
              <c:f>Sheet1!$A$2:$A$9</c:f>
              <c:strCache>
                <c:ptCount val="8"/>
                <c:pt idx="0">
                  <c:v>0%</c:v>
                </c:pt>
                <c:pt idx="1">
                  <c:v>10%</c:v>
                </c:pt>
                <c:pt idx="2">
                  <c:v>20%</c:v>
                </c:pt>
                <c:pt idx="3">
                  <c:v>30%</c:v>
                </c:pt>
                <c:pt idx="4">
                  <c:v>40%</c:v>
                </c:pt>
                <c:pt idx="5">
                  <c:v>50%</c:v>
                </c:pt>
                <c:pt idx="6">
                  <c:v>60%</c:v>
                </c:pt>
                <c:pt idx="7">
                  <c:v>70%+</c:v>
                </c:pt>
              </c:strCache>
            </c:strRef>
          </c:cat>
          <c:val>
            <c:numRef>
              <c:f>Sheet1!$B$2:$B$9</c:f>
              <c:numCache>
                <c:formatCode>General</c:formatCode>
                <c:ptCount val="8"/>
                <c:pt idx="0">
                  <c:v>62</c:v>
                </c:pt>
                <c:pt idx="1">
                  <c:v>45</c:v>
                </c:pt>
                <c:pt idx="2">
                  <c:v>28</c:v>
                </c:pt>
                <c:pt idx="3">
                  <c:v>10</c:v>
                </c:pt>
                <c:pt idx="4">
                  <c:v>-12</c:v>
                </c:pt>
                <c:pt idx="5">
                  <c:v>-35</c:v>
                </c:pt>
                <c:pt idx="6">
                  <c:v>-55</c:v>
                </c:pt>
                <c:pt idx="7">
                  <c:v>-80</c:v>
                </c:pt>
              </c:numCache>
            </c:numRef>
          </c:val>
          <c:smooth val="0"/>
          <c:extLst>
            <c:ext xmlns:c16="http://schemas.microsoft.com/office/drawing/2014/chart" uri="{C3380CC4-5D6E-409C-BE32-E72D297353CC}">
              <c16:uniqueId val="{00000000-36F8-4A13-9190-3960626628E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127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E"/>
        </a:solidFill>
        <a:effectLst/>
      </p:bgPr>
    </p:bg>
    <p:spTree>
      <p:nvGrpSpPr>
        <p:cNvPr id="1" name=""/>
        <p:cNvGrpSpPr/>
        <p:nvPr/>
      </p:nvGrpSpPr>
      <p:grpSpPr>
        <a:xfrm>
          <a:off x="0" y="0"/>
          <a:ext cx="0" cy="0"/>
          <a:chOff x="0" y="0"/>
          <a:chExt cx="0" cy="0"/>
        </a:xfrm>
      </p:grpSpPr>
      <p:sp>
        <p:nvSpPr>
          <p:cNvPr id="2" name="Shape 0"/>
          <p:cNvSpPr/>
          <p:nvPr/>
        </p:nvSpPr>
        <p:spPr>
          <a:xfrm>
            <a:off x="0" y="4206240"/>
            <a:ext cx="9144000" cy="937260"/>
          </a:xfrm>
          <a:prstGeom prst="rect">
            <a:avLst/>
          </a:prstGeom>
          <a:solidFill>
            <a:srgbClr val="0D3580"/>
          </a:solidFill>
          <a:ln/>
        </p:spPr>
        <p:txBody>
          <a:bodyPr/>
          <a:lstStyle/>
          <a:p>
            <a:endParaRPr lang="en-US"/>
          </a:p>
        </p:txBody>
      </p:sp>
      <p:sp>
        <p:nvSpPr>
          <p:cNvPr id="3" name="Shape 1"/>
          <p:cNvSpPr/>
          <p:nvPr/>
        </p:nvSpPr>
        <p:spPr>
          <a:xfrm>
            <a:off x="0" y="0"/>
            <a:ext cx="320040" cy="5143500"/>
          </a:xfrm>
          <a:prstGeom prst="rect">
            <a:avLst/>
          </a:prstGeom>
          <a:solidFill>
            <a:srgbClr val="FFC220"/>
          </a:solidFill>
          <a:ln/>
        </p:spPr>
        <p:txBody>
          <a:bodyPr/>
          <a:lstStyle/>
          <a:p>
            <a:endParaRPr lang="en-US"/>
          </a:p>
        </p:txBody>
      </p:sp>
      <p:sp>
        <p:nvSpPr>
          <p:cNvPr id="4" name="Shape 2"/>
          <p:cNvSpPr/>
          <p:nvPr/>
        </p:nvSpPr>
        <p:spPr>
          <a:xfrm>
            <a:off x="6583680" y="-548640"/>
            <a:ext cx="3200400" cy="3200400"/>
          </a:xfrm>
          <a:prstGeom prst="ellipse">
            <a:avLst/>
          </a:prstGeom>
          <a:solidFill>
            <a:srgbClr val="0D3580">
              <a:alpha val="60000"/>
            </a:srgbClr>
          </a:solidFill>
          <a:ln/>
        </p:spPr>
        <p:txBody>
          <a:bodyPr/>
          <a:lstStyle/>
          <a:p>
            <a:endParaRPr lang="en-US"/>
          </a:p>
        </p:txBody>
      </p:sp>
      <p:sp>
        <p:nvSpPr>
          <p:cNvPr id="5" name="Shape 3"/>
          <p:cNvSpPr/>
          <p:nvPr/>
        </p:nvSpPr>
        <p:spPr>
          <a:xfrm>
            <a:off x="7223760" y="2560320"/>
            <a:ext cx="2011680" cy="2011680"/>
          </a:xfrm>
          <a:prstGeom prst="ellipse">
            <a:avLst/>
          </a:prstGeom>
          <a:solidFill>
            <a:srgbClr val="0D7AB5">
              <a:alpha val="45000"/>
            </a:srgbClr>
          </a:solidFill>
          <a:ln/>
        </p:spPr>
        <p:txBody>
          <a:bodyPr/>
          <a:lstStyle/>
          <a:p>
            <a:endParaRPr lang="en-US"/>
          </a:p>
        </p:txBody>
      </p:sp>
      <p:sp>
        <p:nvSpPr>
          <p:cNvPr id="6" name="Text 4"/>
          <p:cNvSpPr/>
          <p:nvPr/>
        </p:nvSpPr>
        <p:spPr>
          <a:xfrm>
            <a:off x="548640" y="502920"/>
            <a:ext cx="7315200" cy="320040"/>
          </a:xfrm>
          <a:prstGeom prst="rect">
            <a:avLst/>
          </a:prstGeom>
          <a:noFill/>
          <a:ln/>
        </p:spPr>
        <p:txBody>
          <a:bodyPr wrap="square" rtlCol="0" anchor="ctr"/>
          <a:lstStyle/>
          <a:p>
            <a:pPr marL="0" indent="0" algn="l">
              <a:buNone/>
            </a:pPr>
            <a:r>
              <a:rPr lang="en-US" sz="1000" b="1" kern="0" spc="400" dirty="0">
                <a:solidFill>
                  <a:srgbClr val="FFC220"/>
                </a:solidFill>
                <a:latin typeface="Calibri" pitchFamily="34" charset="0"/>
                <a:ea typeface="Calibri" pitchFamily="34" charset="-122"/>
                <a:cs typeface="Calibri" pitchFamily="34" charset="-120"/>
              </a:rPr>
              <a:t>DATA ANALYTICS · BUSINESS INTELLIGENCE</a:t>
            </a:r>
            <a:endParaRPr lang="en-US" sz="1000" dirty="0"/>
          </a:p>
        </p:txBody>
      </p:sp>
      <p:sp>
        <p:nvSpPr>
          <p:cNvPr id="7" name="Text 5"/>
          <p:cNvSpPr/>
          <p:nvPr/>
        </p:nvSpPr>
        <p:spPr>
          <a:xfrm>
            <a:off x="548640" y="914400"/>
            <a:ext cx="7863840" cy="105156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Walmart Sales Analysis</a:t>
            </a:r>
            <a:endParaRPr lang="en-US" sz="4200" dirty="0"/>
          </a:p>
        </p:txBody>
      </p:sp>
      <p:sp>
        <p:nvSpPr>
          <p:cNvPr id="8" name="Text 6"/>
          <p:cNvSpPr/>
          <p:nvPr/>
        </p:nvSpPr>
        <p:spPr>
          <a:xfrm>
            <a:off x="548640" y="1965960"/>
            <a:ext cx="7315200" cy="594360"/>
          </a:xfrm>
          <a:prstGeom prst="rect">
            <a:avLst/>
          </a:prstGeom>
          <a:noFill/>
          <a:ln/>
        </p:spPr>
        <p:txBody>
          <a:bodyPr wrap="square" rtlCol="0" anchor="ctr"/>
          <a:lstStyle/>
          <a:p>
            <a:pPr marL="0" indent="0" algn="l">
              <a:buNone/>
            </a:pPr>
            <a:r>
              <a:rPr lang="en-US" sz="2200" i="1" dirty="0">
                <a:solidFill>
                  <a:srgbClr val="FFC220"/>
                </a:solidFill>
                <a:latin typeface="Calibri" pitchFamily="34" charset="0"/>
                <a:ea typeface="Calibri" pitchFamily="34" charset="-122"/>
                <a:cs typeface="Calibri" pitchFamily="34" charset="-120"/>
              </a:rPr>
              <a:t>Data-Driven Insights for Strategic Growth</a:t>
            </a:r>
            <a:endParaRPr lang="en-US" sz="2200" dirty="0"/>
          </a:p>
        </p:txBody>
      </p:sp>
      <p:sp>
        <p:nvSpPr>
          <p:cNvPr id="9" name="Shape 7"/>
          <p:cNvSpPr/>
          <p:nvPr/>
        </p:nvSpPr>
        <p:spPr>
          <a:xfrm>
            <a:off x="548640" y="2651760"/>
            <a:ext cx="5029200" cy="36576"/>
          </a:xfrm>
          <a:prstGeom prst="rect">
            <a:avLst/>
          </a:prstGeom>
          <a:solidFill>
            <a:srgbClr val="0D7AB5"/>
          </a:solidFill>
          <a:ln/>
        </p:spPr>
        <p:txBody>
          <a:bodyPr/>
          <a:lstStyle/>
          <a:p>
            <a:endParaRPr lang="en-US"/>
          </a:p>
        </p:txBody>
      </p:sp>
      <p:sp>
        <p:nvSpPr>
          <p:cNvPr id="10" name="Text 8"/>
          <p:cNvSpPr/>
          <p:nvPr/>
        </p:nvSpPr>
        <p:spPr>
          <a:xfrm>
            <a:off x="548640" y="2788920"/>
            <a:ext cx="7498080" cy="685800"/>
          </a:xfrm>
          <a:prstGeom prst="rect">
            <a:avLst/>
          </a:prstGeom>
          <a:noFill/>
          <a:ln/>
        </p:spPr>
        <p:txBody>
          <a:bodyPr wrap="square" rtlCol="0" anchor="ctr"/>
          <a:lstStyle/>
          <a:p>
            <a:pPr marL="0" indent="0" algn="l">
              <a:buNone/>
            </a:pPr>
            <a:r>
              <a:rPr lang="en-US" sz="1300" dirty="0">
                <a:solidFill>
                  <a:srgbClr val="AABDE0"/>
                </a:solidFill>
                <a:latin typeface="Calibri" pitchFamily="34" charset="0"/>
                <a:ea typeface="Calibri" pitchFamily="34" charset="-122"/>
                <a:cs typeface="Calibri" pitchFamily="34" charset="-120"/>
              </a:rPr>
              <a:t>An in-depth analysis of 9,995 transactions across product categories,</a:t>
            </a:r>
            <a:endParaRPr lang="en-US" sz="1300" dirty="0"/>
          </a:p>
          <a:p>
            <a:pPr marL="0" indent="0" algn="l">
              <a:buNone/>
            </a:pPr>
            <a:r>
              <a:rPr lang="en-US" sz="1300" dirty="0">
                <a:solidFill>
                  <a:srgbClr val="AABDE0"/>
                </a:solidFill>
                <a:latin typeface="Calibri" pitchFamily="34" charset="0"/>
                <a:ea typeface="Calibri" pitchFamily="34" charset="-122"/>
                <a:cs typeface="Calibri" pitchFamily="34" charset="-120"/>
              </a:rPr>
              <a:t>customer segments, and U.S. regions — powered by Python &amp; Power BI</a:t>
            </a:r>
            <a:endParaRPr lang="en-US" sz="1300" dirty="0"/>
          </a:p>
        </p:txBody>
      </p:sp>
      <p:sp>
        <p:nvSpPr>
          <p:cNvPr id="11" name="Text 9"/>
          <p:cNvSpPr/>
          <p:nvPr/>
        </p:nvSpPr>
        <p:spPr>
          <a:xfrm>
            <a:off x="548640" y="4251960"/>
            <a:ext cx="8229600" cy="411480"/>
          </a:xfrm>
          <a:prstGeom prst="rect">
            <a:avLst/>
          </a:prstGeom>
          <a:noFill/>
          <a:ln/>
        </p:spPr>
        <p:txBody>
          <a:bodyPr wrap="square" rtlCol="0" anchor="ctr"/>
          <a:lstStyle/>
          <a:p>
            <a:pPr marL="0" indent="0" algn="l">
              <a:buNone/>
            </a:pPr>
            <a:r>
              <a:rPr lang="en-US" sz="1100" i="1" dirty="0">
                <a:solidFill>
                  <a:srgbClr val="FFC220"/>
                </a:solidFill>
                <a:latin typeface="Calibri" pitchFamily="34" charset="0"/>
                <a:ea typeface="Calibri" pitchFamily="34" charset="-122"/>
                <a:cs typeface="Calibri" pitchFamily="34" charset="-120"/>
              </a:rPr>
              <a:t>Group Presentation  ·  Equal Contribution by All Members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Agenda</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2 / 20</a:t>
            </a:r>
            <a:endParaRPr lang="en-US" sz="1100" dirty="0"/>
          </a:p>
        </p:txBody>
      </p:sp>
      <p:sp>
        <p:nvSpPr>
          <p:cNvPr id="6" name="Shape 4"/>
          <p:cNvSpPr/>
          <p:nvPr/>
        </p:nvSpPr>
        <p:spPr>
          <a:xfrm>
            <a:off x="320040" y="960120"/>
            <a:ext cx="8503920" cy="475488"/>
          </a:xfrm>
          <a:prstGeom prst="rect">
            <a:avLst/>
          </a:prstGeom>
          <a:solidFill>
            <a:srgbClr val="FFFFFF"/>
          </a:solidFill>
          <a:ln w="6350">
            <a:solidFill>
              <a:srgbClr val="E2E8F0"/>
            </a:solidFill>
            <a:prstDash val="solid"/>
          </a:ln>
        </p:spPr>
        <p:txBody>
          <a:bodyPr/>
          <a:lstStyle/>
          <a:p>
            <a:endParaRPr lang="en-US"/>
          </a:p>
        </p:txBody>
      </p:sp>
      <p:sp>
        <p:nvSpPr>
          <p:cNvPr id="7" name="Shape 5"/>
          <p:cNvSpPr/>
          <p:nvPr/>
        </p:nvSpPr>
        <p:spPr>
          <a:xfrm>
            <a:off x="320040" y="960120"/>
            <a:ext cx="502920" cy="475488"/>
          </a:xfrm>
          <a:prstGeom prst="rect">
            <a:avLst/>
          </a:prstGeom>
          <a:solidFill>
            <a:srgbClr val="0D3580"/>
          </a:solidFill>
          <a:ln/>
        </p:spPr>
        <p:txBody>
          <a:bodyPr/>
          <a:lstStyle/>
          <a:p>
            <a:endParaRPr lang="en-US"/>
          </a:p>
        </p:txBody>
      </p:sp>
      <p:sp>
        <p:nvSpPr>
          <p:cNvPr id="8" name="Text 6"/>
          <p:cNvSpPr/>
          <p:nvPr/>
        </p:nvSpPr>
        <p:spPr>
          <a:xfrm>
            <a:off x="320040" y="960120"/>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9" name="Text 7"/>
          <p:cNvSpPr/>
          <p:nvPr/>
        </p:nvSpPr>
        <p:spPr>
          <a:xfrm>
            <a:off x="932688" y="987552"/>
            <a:ext cx="3931920" cy="228600"/>
          </a:xfrm>
          <a:prstGeom prst="rect">
            <a:avLst/>
          </a:prstGeom>
          <a:noFill/>
          <a:ln/>
        </p:spPr>
        <p:txBody>
          <a:bodyPr wrap="square" lIns="0" tIns="0" rIns="0" bIns="0" rtlCol="0" anchor="ctr"/>
          <a:lstStyle/>
          <a:p>
            <a:pPr marL="0" indent="0" algn="l">
              <a:buNone/>
            </a:pPr>
            <a:r>
              <a:rPr lang="en-US" sz="1300" b="1" dirty="0">
                <a:solidFill>
                  <a:srgbClr val="0D3580"/>
                </a:solidFill>
                <a:latin typeface="Calibri" pitchFamily="34" charset="0"/>
                <a:ea typeface="Calibri" pitchFamily="34" charset="-122"/>
                <a:cs typeface="Calibri" pitchFamily="34" charset="-120"/>
              </a:rPr>
              <a:t>Introduction &amp; Dataset Overview</a:t>
            </a:r>
            <a:endParaRPr lang="en-US" sz="1300" dirty="0"/>
          </a:p>
        </p:txBody>
      </p:sp>
      <p:sp>
        <p:nvSpPr>
          <p:cNvPr id="10" name="Text 8"/>
          <p:cNvSpPr/>
          <p:nvPr/>
        </p:nvSpPr>
        <p:spPr>
          <a:xfrm>
            <a:off x="932688" y="1216152"/>
            <a:ext cx="7680960" cy="182880"/>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Objectives, data dimensions, and key variables</a:t>
            </a:r>
            <a:endParaRPr lang="en-US" sz="1000" dirty="0"/>
          </a:p>
        </p:txBody>
      </p:sp>
      <p:sp>
        <p:nvSpPr>
          <p:cNvPr id="11" name="Shape 9"/>
          <p:cNvSpPr/>
          <p:nvPr/>
        </p:nvSpPr>
        <p:spPr>
          <a:xfrm>
            <a:off x="320040" y="1527048"/>
            <a:ext cx="8503920" cy="475488"/>
          </a:xfrm>
          <a:prstGeom prst="rect">
            <a:avLst/>
          </a:prstGeom>
          <a:solidFill>
            <a:srgbClr val="EBF4FA"/>
          </a:solidFill>
          <a:ln w="6350">
            <a:solidFill>
              <a:srgbClr val="E2E8F0"/>
            </a:solidFill>
            <a:prstDash val="solid"/>
          </a:ln>
        </p:spPr>
        <p:txBody>
          <a:bodyPr/>
          <a:lstStyle/>
          <a:p>
            <a:endParaRPr lang="en-US"/>
          </a:p>
        </p:txBody>
      </p:sp>
      <p:sp>
        <p:nvSpPr>
          <p:cNvPr id="12" name="Shape 10"/>
          <p:cNvSpPr/>
          <p:nvPr/>
        </p:nvSpPr>
        <p:spPr>
          <a:xfrm>
            <a:off x="320040" y="1527048"/>
            <a:ext cx="502920" cy="475488"/>
          </a:xfrm>
          <a:prstGeom prst="rect">
            <a:avLst/>
          </a:prstGeom>
          <a:solidFill>
            <a:srgbClr val="0D7AB5"/>
          </a:solidFill>
          <a:ln/>
        </p:spPr>
        <p:txBody>
          <a:bodyPr/>
          <a:lstStyle/>
          <a:p>
            <a:endParaRPr lang="en-US"/>
          </a:p>
        </p:txBody>
      </p:sp>
      <p:sp>
        <p:nvSpPr>
          <p:cNvPr id="13" name="Text 11"/>
          <p:cNvSpPr/>
          <p:nvPr/>
        </p:nvSpPr>
        <p:spPr>
          <a:xfrm>
            <a:off x="320040" y="1527048"/>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4" name="Text 12"/>
          <p:cNvSpPr/>
          <p:nvPr/>
        </p:nvSpPr>
        <p:spPr>
          <a:xfrm>
            <a:off x="932688" y="1554480"/>
            <a:ext cx="3931920" cy="228600"/>
          </a:xfrm>
          <a:prstGeom prst="rect">
            <a:avLst/>
          </a:prstGeom>
          <a:noFill/>
          <a:ln/>
        </p:spPr>
        <p:txBody>
          <a:bodyPr wrap="square" lIns="0" tIns="0" rIns="0" bIns="0" rtlCol="0" anchor="ctr"/>
          <a:lstStyle/>
          <a:p>
            <a:pPr marL="0" indent="0" algn="l">
              <a:buNone/>
            </a:pPr>
            <a:r>
              <a:rPr lang="en-US" sz="1300" b="1" dirty="0">
                <a:solidFill>
                  <a:srgbClr val="0D3580"/>
                </a:solidFill>
                <a:latin typeface="Calibri" pitchFamily="34" charset="0"/>
                <a:ea typeface="Calibri" pitchFamily="34" charset="-122"/>
                <a:cs typeface="Calibri" pitchFamily="34" charset="-120"/>
              </a:rPr>
              <a:t>Methodology &amp; Tech Stack</a:t>
            </a:r>
            <a:endParaRPr lang="en-US" sz="1300" dirty="0"/>
          </a:p>
        </p:txBody>
      </p:sp>
      <p:sp>
        <p:nvSpPr>
          <p:cNvPr id="15" name="Text 13"/>
          <p:cNvSpPr/>
          <p:nvPr/>
        </p:nvSpPr>
        <p:spPr>
          <a:xfrm>
            <a:off x="932688" y="1783080"/>
            <a:ext cx="7680960" cy="182880"/>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Python libraries and Power BI tools used</a:t>
            </a:r>
            <a:endParaRPr lang="en-US" sz="1000" dirty="0"/>
          </a:p>
        </p:txBody>
      </p:sp>
      <p:sp>
        <p:nvSpPr>
          <p:cNvPr id="16" name="Shape 14"/>
          <p:cNvSpPr/>
          <p:nvPr/>
        </p:nvSpPr>
        <p:spPr>
          <a:xfrm>
            <a:off x="320040" y="2093976"/>
            <a:ext cx="8503920" cy="475488"/>
          </a:xfrm>
          <a:prstGeom prst="rect">
            <a:avLst/>
          </a:prstGeom>
          <a:solidFill>
            <a:srgbClr val="FFFFFF"/>
          </a:solidFill>
          <a:ln w="6350">
            <a:solidFill>
              <a:srgbClr val="E2E8F0"/>
            </a:solidFill>
            <a:prstDash val="solid"/>
          </a:ln>
        </p:spPr>
        <p:txBody>
          <a:bodyPr/>
          <a:lstStyle/>
          <a:p>
            <a:endParaRPr lang="en-US"/>
          </a:p>
        </p:txBody>
      </p:sp>
      <p:sp>
        <p:nvSpPr>
          <p:cNvPr id="17" name="Shape 15"/>
          <p:cNvSpPr/>
          <p:nvPr/>
        </p:nvSpPr>
        <p:spPr>
          <a:xfrm>
            <a:off x="320040" y="2093976"/>
            <a:ext cx="502920" cy="475488"/>
          </a:xfrm>
          <a:prstGeom prst="rect">
            <a:avLst/>
          </a:prstGeom>
          <a:solidFill>
            <a:srgbClr val="155E75"/>
          </a:solidFill>
          <a:ln/>
        </p:spPr>
        <p:txBody>
          <a:bodyPr/>
          <a:lstStyle/>
          <a:p>
            <a:endParaRPr lang="en-US"/>
          </a:p>
        </p:txBody>
      </p:sp>
      <p:sp>
        <p:nvSpPr>
          <p:cNvPr id="18" name="Text 16"/>
          <p:cNvSpPr/>
          <p:nvPr/>
        </p:nvSpPr>
        <p:spPr>
          <a:xfrm>
            <a:off x="320040" y="2093976"/>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9" name="Text 17"/>
          <p:cNvSpPr/>
          <p:nvPr/>
        </p:nvSpPr>
        <p:spPr>
          <a:xfrm>
            <a:off x="932688" y="2121408"/>
            <a:ext cx="3931920" cy="228600"/>
          </a:xfrm>
          <a:prstGeom prst="rect">
            <a:avLst/>
          </a:prstGeom>
          <a:noFill/>
          <a:ln/>
        </p:spPr>
        <p:txBody>
          <a:bodyPr wrap="square" lIns="0" tIns="0" rIns="0" bIns="0" rtlCol="0" anchor="ctr"/>
          <a:lstStyle/>
          <a:p>
            <a:pPr marL="0" indent="0" algn="l">
              <a:buNone/>
            </a:pPr>
            <a:r>
              <a:rPr lang="en-US" sz="1300" b="1" dirty="0">
                <a:solidFill>
                  <a:srgbClr val="0D3580"/>
                </a:solidFill>
                <a:latin typeface="Calibri" pitchFamily="34" charset="0"/>
                <a:ea typeface="Calibri" pitchFamily="34" charset="-122"/>
                <a:cs typeface="Calibri" pitchFamily="34" charset="-120"/>
              </a:rPr>
              <a:t>Product Category Analysis</a:t>
            </a:r>
            <a:endParaRPr lang="en-US" sz="1300" dirty="0"/>
          </a:p>
        </p:txBody>
      </p:sp>
      <p:sp>
        <p:nvSpPr>
          <p:cNvPr id="20" name="Text 18"/>
          <p:cNvSpPr/>
          <p:nvPr/>
        </p:nvSpPr>
        <p:spPr>
          <a:xfrm>
            <a:off x="932688" y="2350008"/>
            <a:ext cx="7680960" cy="182880"/>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Which categories and sub-categories drive sales</a:t>
            </a:r>
            <a:endParaRPr lang="en-US" sz="1000" dirty="0"/>
          </a:p>
        </p:txBody>
      </p:sp>
      <p:sp>
        <p:nvSpPr>
          <p:cNvPr id="21" name="Shape 19"/>
          <p:cNvSpPr/>
          <p:nvPr/>
        </p:nvSpPr>
        <p:spPr>
          <a:xfrm>
            <a:off x="320040" y="2660904"/>
            <a:ext cx="8503920" cy="475488"/>
          </a:xfrm>
          <a:prstGeom prst="rect">
            <a:avLst/>
          </a:prstGeom>
          <a:solidFill>
            <a:srgbClr val="EBF4FA"/>
          </a:solidFill>
          <a:ln w="6350">
            <a:solidFill>
              <a:srgbClr val="E2E8F0"/>
            </a:solidFill>
            <a:prstDash val="solid"/>
          </a:ln>
        </p:spPr>
        <p:txBody>
          <a:bodyPr/>
          <a:lstStyle/>
          <a:p>
            <a:endParaRPr lang="en-US"/>
          </a:p>
        </p:txBody>
      </p:sp>
      <p:sp>
        <p:nvSpPr>
          <p:cNvPr id="22" name="Shape 20"/>
          <p:cNvSpPr/>
          <p:nvPr/>
        </p:nvSpPr>
        <p:spPr>
          <a:xfrm>
            <a:off x="320040" y="2660904"/>
            <a:ext cx="502920" cy="475488"/>
          </a:xfrm>
          <a:prstGeom prst="rect">
            <a:avLst/>
          </a:prstGeom>
          <a:solidFill>
            <a:srgbClr val="1B7A3E"/>
          </a:solidFill>
          <a:ln/>
        </p:spPr>
        <p:txBody>
          <a:bodyPr/>
          <a:lstStyle/>
          <a:p>
            <a:endParaRPr lang="en-US"/>
          </a:p>
        </p:txBody>
      </p:sp>
      <p:sp>
        <p:nvSpPr>
          <p:cNvPr id="23" name="Text 21"/>
          <p:cNvSpPr/>
          <p:nvPr/>
        </p:nvSpPr>
        <p:spPr>
          <a:xfrm>
            <a:off x="320040" y="2660904"/>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4" name="Text 22"/>
          <p:cNvSpPr/>
          <p:nvPr/>
        </p:nvSpPr>
        <p:spPr>
          <a:xfrm>
            <a:off x="932688" y="2688336"/>
            <a:ext cx="3931920" cy="228600"/>
          </a:xfrm>
          <a:prstGeom prst="rect">
            <a:avLst/>
          </a:prstGeom>
          <a:noFill/>
          <a:ln/>
        </p:spPr>
        <p:txBody>
          <a:bodyPr wrap="square" lIns="0" tIns="0" rIns="0" bIns="0" rtlCol="0" anchor="ctr"/>
          <a:lstStyle/>
          <a:p>
            <a:pPr marL="0" indent="0" algn="l">
              <a:buNone/>
            </a:pPr>
            <a:r>
              <a:rPr lang="en-US" sz="1300" b="1" dirty="0">
                <a:solidFill>
                  <a:srgbClr val="0D3580"/>
                </a:solidFill>
                <a:latin typeface="Calibri" pitchFamily="34" charset="0"/>
                <a:ea typeface="Calibri" pitchFamily="34" charset="-122"/>
                <a:cs typeface="Calibri" pitchFamily="34" charset="-120"/>
              </a:rPr>
              <a:t>Customer Segment Insights</a:t>
            </a:r>
            <a:endParaRPr lang="en-US" sz="1300" dirty="0"/>
          </a:p>
        </p:txBody>
      </p:sp>
      <p:sp>
        <p:nvSpPr>
          <p:cNvPr id="25" name="Text 23"/>
          <p:cNvSpPr/>
          <p:nvPr/>
        </p:nvSpPr>
        <p:spPr>
          <a:xfrm>
            <a:off x="932688" y="2916936"/>
            <a:ext cx="7680960" cy="182880"/>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Consumer, Corporate &amp; Home Office contributions</a:t>
            </a:r>
            <a:endParaRPr lang="en-US" sz="1000" dirty="0"/>
          </a:p>
        </p:txBody>
      </p:sp>
      <p:sp>
        <p:nvSpPr>
          <p:cNvPr id="26" name="Shape 24"/>
          <p:cNvSpPr/>
          <p:nvPr/>
        </p:nvSpPr>
        <p:spPr>
          <a:xfrm>
            <a:off x="320040" y="3227832"/>
            <a:ext cx="8503920" cy="475488"/>
          </a:xfrm>
          <a:prstGeom prst="rect">
            <a:avLst/>
          </a:prstGeom>
          <a:solidFill>
            <a:srgbClr val="FFFFFF"/>
          </a:solidFill>
          <a:ln w="6350">
            <a:solidFill>
              <a:srgbClr val="E2E8F0"/>
            </a:solidFill>
            <a:prstDash val="solid"/>
          </a:ln>
        </p:spPr>
        <p:txBody>
          <a:bodyPr/>
          <a:lstStyle/>
          <a:p>
            <a:endParaRPr lang="en-US"/>
          </a:p>
        </p:txBody>
      </p:sp>
      <p:sp>
        <p:nvSpPr>
          <p:cNvPr id="27" name="Shape 25"/>
          <p:cNvSpPr/>
          <p:nvPr/>
        </p:nvSpPr>
        <p:spPr>
          <a:xfrm>
            <a:off x="320040" y="3227832"/>
            <a:ext cx="502920" cy="475488"/>
          </a:xfrm>
          <a:prstGeom prst="rect">
            <a:avLst/>
          </a:prstGeom>
          <a:solidFill>
            <a:srgbClr val="7C3AED"/>
          </a:solidFill>
          <a:ln/>
        </p:spPr>
        <p:txBody>
          <a:bodyPr/>
          <a:lstStyle/>
          <a:p>
            <a:endParaRPr lang="en-US"/>
          </a:p>
        </p:txBody>
      </p:sp>
      <p:sp>
        <p:nvSpPr>
          <p:cNvPr id="28" name="Text 26"/>
          <p:cNvSpPr/>
          <p:nvPr/>
        </p:nvSpPr>
        <p:spPr>
          <a:xfrm>
            <a:off x="320040" y="3227832"/>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9" name="Text 27"/>
          <p:cNvSpPr/>
          <p:nvPr/>
        </p:nvSpPr>
        <p:spPr>
          <a:xfrm>
            <a:off x="932688" y="3255264"/>
            <a:ext cx="3931920" cy="228600"/>
          </a:xfrm>
          <a:prstGeom prst="rect">
            <a:avLst/>
          </a:prstGeom>
          <a:noFill/>
          <a:ln/>
        </p:spPr>
        <p:txBody>
          <a:bodyPr wrap="square" lIns="0" tIns="0" rIns="0" bIns="0" rtlCol="0" anchor="ctr"/>
          <a:lstStyle/>
          <a:p>
            <a:pPr marL="0" indent="0" algn="l">
              <a:buNone/>
            </a:pPr>
            <a:r>
              <a:rPr lang="en-US" sz="1300" b="1" dirty="0">
                <a:solidFill>
                  <a:srgbClr val="0D3580"/>
                </a:solidFill>
                <a:latin typeface="Calibri" pitchFamily="34" charset="0"/>
                <a:ea typeface="Calibri" pitchFamily="34" charset="-122"/>
                <a:cs typeface="Calibri" pitchFamily="34" charset="-120"/>
              </a:rPr>
              <a:t>Geographical Performance</a:t>
            </a:r>
            <a:endParaRPr lang="en-US" sz="1300" dirty="0"/>
          </a:p>
        </p:txBody>
      </p:sp>
      <p:sp>
        <p:nvSpPr>
          <p:cNvPr id="30" name="Text 28"/>
          <p:cNvSpPr/>
          <p:nvPr/>
        </p:nvSpPr>
        <p:spPr>
          <a:xfrm>
            <a:off x="932688" y="3483864"/>
            <a:ext cx="7680960" cy="182880"/>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Regional &amp; city-level sales and profit patterns</a:t>
            </a:r>
            <a:endParaRPr lang="en-US" sz="1000" dirty="0"/>
          </a:p>
        </p:txBody>
      </p:sp>
      <p:sp>
        <p:nvSpPr>
          <p:cNvPr id="31" name="Shape 29"/>
          <p:cNvSpPr/>
          <p:nvPr/>
        </p:nvSpPr>
        <p:spPr>
          <a:xfrm>
            <a:off x="320040" y="3794760"/>
            <a:ext cx="8503920" cy="475488"/>
          </a:xfrm>
          <a:prstGeom prst="rect">
            <a:avLst/>
          </a:prstGeom>
          <a:solidFill>
            <a:srgbClr val="EBF4FA"/>
          </a:solidFill>
          <a:ln w="6350">
            <a:solidFill>
              <a:srgbClr val="E2E8F0"/>
            </a:solidFill>
            <a:prstDash val="solid"/>
          </a:ln>
        </p:spPr>
        <p:txBody>
          <a:bodyPr/>
          <a:lstStyle/>
          <a:p>
            <a:endParaRPr lang="en-US"/>
          </a:p>
        </p:txBody>
      </p:sp>
      <p:sp>
        <p:nvSpPr>
          <p:cNvPr id="32" name="Shape 30"/>
          <p:cNvSpPr/>
          <p:nvPr/>
        </p:nvSpPr>
        <p:spPr>
          <a:xfrm>
            <a:off x="320040" y="3794760"/>
            <a:ext cx="502920" cy="475488"/>
          </a:xfrm>
          <a:prstGeom prst="rect">
            <a:avLst/>
          </a:prstGeom>
          <a:solidFill>
            <a:srgbClr val="C0392B"/>
          </a:solidFill>
          <a:ln/>
        </p:spPr>
        <p:txBody>
          <a:bodyPr/>
          <a:lstStyle/>
          <a:p>
            <a:endParaRPr lang="en-US"/>
          </a:p>
        </p:txBody>
      </p:sp>
      <p:sp>
        <p:nvSpPr>
          <p:cNvPr id="33" name="Text 31"/>
          <p:cNvSpPr/>
          <p:nvPr/>
        </p:nvSpPr>
        <p:spPr>
          <a:xfrm>
            <a:off x="320040" y="3794760"/>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4" name="Text 32"/>
          <p:cNvSpPr/>
          <p:nvPr/>
        </p:nvSpPr>
        <p:spPr>
          <a:xfrm>
            <a:off x="932688" y="3822192"/>
            <a:ext cx="3931920" cy="228600"/>
          </a:xfrm>
          <a:prstGeom prst="rect">
            <a:avLst/>
          </a:prstGeom>
          <a:noFill/>
          <a:ln/>
        </p:spPr>
        <p:txBody>
          <a:bodyPr wrap="square" lIns="0" tIns="0" rIns="0" bIns="0" rtlCol="0" anchor="ctr"/>
          <a:lstStyle/>
          <a:p>
            <a:pPr marL="0" indent="0" algn="l">
              <a:buNone/>
            </a:pPr>
            <a:r>
              <a:rPr lang="en-US" sz="1300" b="1" dirty="0">
                <a:solidFill>
                  <a:srgbClr val="0D3580"/>
                </a:solidFill>
                <a:latin typeface="Calibri" pitchFamily="34" charset="0"/>
                <a:ea typeface="Calibri" pitchFamily="34" charset="-122"/>
                <a:cs typeface="Calibri" pitchFamily="34" charset="-120"/>
              </a:rPr>
              <a:t>Factor Interactions &amp; Correlations</a:t>
            </a:r>
            <a:endParaRPr lang="en-US" sz="1300" dirty="0"/>
          </a:p>
        </p:txBody>
      </p:sp>
      <p:sp>
        <p:nvSpPr>
          <p:cNvPr id="35" name="Text 33"/>
          <p:cNvSpPr/>
          <p:nvPr/>
        </p:nvSpPr>
        <p:spPr>
          <a:xfrm>
            <a:off x="932688" y="4050792"/>
            <a:ext cx="7680960" cy="182880"/>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Discounts, quantities, shipping, and their effects</a:t>
            </a:r>
            <a:endParaRPr lang="en-US" sz="1000" dirty="0"/>
          </a:p>
        </p:txBody>
      </p:sp>
      <p:sp>
        <p:nvSpPr>
          <p:cNvPr id="36" name="Shape 34"/>
          <p:cNvSpPr/>
          <p:nvPr/>
        </p:nvSpPr>
        <p:spPr>
          <a:xfrm>
            <a:off x="320040" y="4361688"/>
            <a:ext cx="8503920" cy="475488"/>
          </a:xfrm>
          <a:prstGeom prst="rect">
            <a:avLst/>
          </a:prstGeom>
          <a:solidFill>
            <a:srgbClr val="FFFFFF"/>
          </a:solidFill>
          <a:ln w="6350">
            <a:solidFill>
              <a:srgbClr val="E2E8F0"/>
            </a:solidFill>
            <a:prstDash val="solid"/>
          </a:ln>
        </p:spPr>
        <p:txBody>
          <a:bodyPr/>
          <a:lstStyle/>
          <a:p>
            <a:endParaRPr lang="en-US"/>
          </a:p>
        </p:txBody>
      </p:sp>
      <p:sp>
        <p:nvSpPr>
          <p:cNvPr id="37" name="Shape 35"/>
          <p:cNvSpPr/>
          <p:nvPr/>
        </p:nvSpPr>
        <p:spPr>
          <a:xfrm>
            <a:off x="320040" y="4361688"/>
            <a:ext cx="502920" cy="475488"/>
          </a:xfrm>
          <a:prstGeom prst="rect">
            <a:avLst/>
          </a:prstGeom>
          <a:solidFill>
            <a:srgbClr val="92400E"/>
          </a:solidFill>
          <a:ln/>
        </p:spPr>
        <p:txBody>
          <a:bodyPr/>
          <a:lstStyle/>
          <a:p>
            <a:endParaRPr lang="en-US"/>
          </a:p>
        </p:txBody>
      </p:sp>
      <p:sp>
        <p:nvSpPr>
          <p:cNvPr id="38" name="Text 36"/>
          <p:cNvSpPr/>
          <p:nvPr/>
        </p:nvSpPr>
        <p:spPr>
          <a:xfrm>
            <a:off x="320040" y="4361688"/>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39" name="Text 37"/>
          <p:cNvSpPr/>
          <p:nvPr/>
        </p:nvSpPr>
        <p:spPr>
          <a:xfrm>
            <a:off x="932688" y="4389120"/>
            <a:ext cx="3931920" cy="228600"/>
          </a:xfrm>
          <a:prstGeom prst="rect">
            <a:avLst/>
          </a:prstGeom>
          <a:noFill/>
          <a:ln/>
        </p:spPr>
        <p:txBody>
          <a:bodyPr wrap="square" lIns="0" tIns="0" rIns="0" bIns="0" rtlCol="0" anchor="ctr"/>
          <a:lstStyle/>
          <a:p>
            <a:pPr marL="0" indent="0" algn="l">
              <a:buNone/>
            </a:pPr>
            <a:r>
              <a:rPr lang="en-US" sz="1300" b="1" dirty="0">
                <a:solidFill>
                  <a:srgbClr val="0D3580"/>
                </a:solidFill>
                <a:latin typeface="Calibri" pitchFamily="34" charset="0"/>
                <a:ea typeface="Calibri" pitchFamily="34" charset="-122"/>
                <a:cs typeface="Calibri" pitchFamily="34" charset="-120"/>
              </a:rPr>
              <a:t>Strategic Summary &amp; Conclusion</a:t>
            </a:r>
            <a:endParaRPr lang="en-US" sz="1300" dirty="0"/>
          </a:p>
        </p:txBody>
      </p:sp>
      <p:sp>
        <p:nvSpPr>
          <p:cNvPr id="40" name="Text 38"/>
          <p:cNvSpPr/>
          <p:nvPr/>
        </p:nvSpPr>
        <p:spPr>
          <a:xfrm>
            <a:off x="932688" y="4617720"/>
            <a:ext cx="7680960" cy="182880"/>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Target vs. avoid matrix and next steps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Introduction &amp; Project Objectives</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3 / 20</a:t>
            </a:r>
            <a:endParaRPr lang="en-US" sz="1100" dirty="0"/>
          </a:p>
        </p:txBody>
      </p:sp>
      <p:sp>
        <p:nvSpPr>
          <p:cNvPr id="6" name="Text 4"/>
          <p:cNvSpPr/>
          <p:nvPr/>
        </p:nvSpPr>
        <p:spPr>
          <a:xfrm>
            <a:off x="320040" y="960120"/>
            <a:ext cx="4206240" cy="347472"/>
          </a:xfrm>
          <a:prstGeom prst="rect">
            <a:avLst/>
          </a:prstGeom>
          <a:noFill/>
          <a:ln/>
        </p:spPr>
        <p:txBody>
          <a:bodyPr wrap="square" rtlCol="0" anchor="ctr"/>
          <a:lstStyle/>
          <a:p>
            <a:pPr marL="0" indent="0">
              <a:buNone/>
            </a:pPr>
            <a:r>
              <a:rPr lang="en-US" sz="1500" b="1" dirty="0">
                <a:solidFill>
                  <a:srgbClr val="0D3580"/>
                </a:solidFill>
                <a:latin typeface="Calibri" pitchFamily="34" charset="0"/>
                <a:ea typeface="Calibri" pitchFamily="34" charset="-122"/>
                <a:cs typeface="Calibri" pitchFamily="34" charset="-120"/>
              </a:rPr>
              <a:t>Business Context</a:t>
            </a:r>
            <a:endParaRPr lang="en-US" sz="1500" dirty="0"/>
          </a:p>
        </p:txBody>
      </p:sp>
      <p:sp>
        <p:nvSpPr>
          <p:cNvPr id="7" name="Text 5"/>
          <p:cNvSpPr/>
          <p:nvPr/>
        </p:nvSpPr>
        <p:spPr>
          <a:xfrm>
            <a:off x="320040" y="1325880"/>
            <a:ext cx="4206240" cy="594360"/>
          </a:xfrm>
          <a:prstGeom prst="rect">
            <a:avLst/>
          </a:prstGeom>
          <a:noFill/>
          <a:ln/>
        </p:spPr>
        <p:txBody>
          <a:bodyPr wrap="square" rtlCol="0" anchor="ctr"/>
          <a:lstStyle/>
          <a:p>
            <a:pPr marL="0" indent="0" algn="l">
              <a:buNone/>
            </a:pPr>
            <a:r>
              <a:rPr lang="en-US" sz="1150" dirty="0">
                <a:solidFill>
                  <a:srgbClr val="64748B"/>
                </a:solidFill>
                <a:latin typeface="Calibri" pitchFamily="34" charset="0"/>
                <a:ea typeface="Calibri" pitchFamily="34" charset="-122"/>
                <a:cs typeface="Calibri" pitchFamily="34" charset="-120"/>
              </a:rPr>
              <a:t>Retail giants like Walmart operate across thousands of SKUs, multiple regions, and diverse customer demographics — making data-driven decision-making mission-critical.</a:t>
            </a:r>
            <a:endParaRPr lang="en-US" sz="1150" dirty="0"/>
          </a:p>
        </p:txBody>
      </p:sp>
      <p:sp>
        <p:nvSpPr>
          <p:cNvPr id="8" name="Text 6"/>
          <p:cNvSpPr/>
          <p:nvPr/>
        </p:nvSpPr>
        <p:spPr>
          <a:xfrm>
            <a:off x="320040" y="1984248"/>
            <a:ext cx="4206240" cy="594360"/>
          </a:xfrm>
          <a:prstGeom prst="rect">
            <a:avLst/>
          </a:prstGeom>
          <a:noFill/>
          <a:ln/>
        </p:spPr>
        <p:txBody>
          <a:bodyPr wrap="square" rtlCol="0" anchor="ctr"/>
          <a:lstStyle/>
          <a:p>
            <a:pPr marL="0" indent="0" algn="l">
              <a:buNone/>
            </a:pPr>
            <a:r>
              <a:rPr lang="en-US" sz="1150" dirty="0">
                <a:solidFill>
                  <a:srgbClr val="64748B"/>
                </a:solidFill>
                <a:latin typeface="Calibri" pitchFamily="34" charset="0"/>
                <a:ea typeface="Calibri" pitchFamily="34" charset="-122"/>
                <a:cs typeface="Calibri" pitchFamily="34" charset="-120"/>
              </a:rPr>
              <a:t>This project analyzes a Walmart transactional dataset to extract actionable intelligence on which products to promote, which customer segments to prioritize, and which geographic markets offer the highest return.</a:t>
            </a:r>
            <a:endParaRPr lang="en-US" sz="1150" dirty="0"/>
          </a:p>
        </p:txBody>
      </p:sp>
      <p:sp>
        <p:nvSpPr>
          <p:cNvPr id="9" name="Text 7"/>
          <p:cNvSpPr/>
          <p:nvPr/>
        </p:nvSpPr>
        <p:spPr>
          <a:xfrm>
            <a:off x="320040" y="2642616"/>
            <a:ext cx="4206240" cy="594360"/>
          </a:xfrm>
          <a:prstGeom prst="rect">
            <a:avLst/>
          </a:prstGeom>
          <a:noFill/>
          <a:ln/>
        </p:spPr>
        <p:txBody>
          <a:bodyPr wrap="square" rtlCol="0" anchor="ctr"/>
          <a:lstStyle/>
          <a:p>
            <a:pPr marL="0" indent="0" algn="l">
              <a:buNone/>
            </a:pPr>
            <a:r>
              <a:rPr lang="en-US" sz="1150" dirty="0">
                <a:solidFill>
                  <a:srgbClr val="64748B"/>
                </a:solidFill>
                <a:latin typeface="Calibri" pitchFamily="34" charset="0"/>
                <a:ea typeface="Calibri" pitchFamily="34" charset="-122"/>
                <a:cs typeface="Calibri" pitchFamily="34" charset="-120"/>
              </a:rPr>
              <a:t>Findings are directly actionable for store managers, category directors, and regional VPs.</a:t>
            </a:r>
            <a:endParaRPr lang="en-US" sz="1150" dirty="0"/>
          </a:p>
        </p:txBody>
      </p:sp>
      <p:sp>
        <p:nvSpPr>
          <p:cNvPr id="10" name="Text 8"/>
          <p:cNvSpPr/>
          <p:nvPr/>
        </p:nvSpPr>
        <p:spPr>
          <a:xfrm>
            <a:off x="4800600" y="960120"/>
            <a:ext cx="4023360" cy="347472"/>
          </a:xfrm>
          <a:prstGeom prst="rect">
            <a:avLst/>
          </a:prstGeom>
          <a:noFill/>
          <a:ln/>
        </p:spPr>
        <p:txBody>
          <a:bodyPr wrap="square" rtlCol="0" anchor="ctr"/>
          <a:lstStyle/>
          <a:p>
            <a:pPr marL="0" indent="0">
              <a:buNone/>
            </a:pPr>
            <a:r>
              <a:rPr lang="en-US" sz="1500" b="1" dirty="0">
                <a:solidFill>
                  <a:srgbClr val="0D3580"/>
                </a:solidFill>
                <a:latin typeface="Calibri" pitchFamily="34" charset="0"/>
                <a:ea typeface="Calibri" pitchFamily="34" charset="-122"/>
                <a:cs typeface="Calibri" pitchFamily="34" charset="-120"/>
              </a:rPr>
              <a:t>Core Objectives</a:t>
            </a:r>
            <a:endParaRPr lang="en-US" sz="1500" dirty="0"/>
          </a:p>
        </p:txBody>
      </p:sp>
      <p:sp>
        <p:nvSpPr>
          <p:cNvPr id="11" name="Shape 9"/>
          <p:cNvSpPr/>
          <p:nvPr/>
        </p:nvSpPr>
        <p:spPr>
          <a:xfrm>
            <a:off x="4800600" y="1325880"/>
            <a:ext cx="3931920" cy="4754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800600" y="1325880"/>
            <a:ext cx="54864" cy="475488"/>
          </a:xfrm>
          <a:prstGeom prst="rect">
            <a:avLst/>
          </a:prstGeom>
          <a:solidFill>
            <a:srgbClr val="FFC220"/>
          </a:solidFill>
          <a:ln/>
        </p:spPr>
        <p:txBody>
          <a:bodyPr/>
          <a:lstStyle/>
          <a:p>
            <a:endParaRPr lang="en-US"/>
          </a:p>
        </p:txBody>
      </p:sp>
      <p:sp>
        <p:nvSpPr>
          <p:cNvPr id="13" name="Text 11"/>
          <p:cNvSpPr/>
          <p:nvPr/>
        </p:nvSpPr>
        <p:spPr>
          <a:xfrm>
            <a:off x="4919472" y="1353312"/>
            <a:ext cx="3749040" cy="402336"/>
          </a:xfrm>
          <a:prstGeom prst="rect">
            <a:avLst/>
          </a:prstGeom>
          <a:noFill/>
          <a:ln/>
        </p:spPr>
        <p:txBody>
          <a:bodyPr wrap="square" rtlCol="0" anchor="ctr"/>
          <a:lstStyle/>
          <a:p>
            <a:pPr marL="0" indent="0" algn="l">
              <a:buNone/>
            </a:pPr>
            <a:r>
              <a:rPr lang="en-US" sz="1050" dirty="0">
                <a:solidFill>
                  <a:srgbClr val="2D3748"/>
                </a:solidFill>
                <a:latin typeface="Calibri" pitchFamily="34" charset="0"/>
                <a:ea typeface="Calibri" pitchFamily="34" charset="-122"/>
                <a:cs typeface="Calibri" pitchFamily="34" charset="-120"/>
              </a:rPr>
              <a:t>🎯  Identify top-performing product categories &amp; sub-categories by revenue</a:t>
            </a:r>
            <a:endParaRPr lang="en-US" sz="1050" dirty="0"/>
          </a:p>
        </p:txBody>
      </p:sp>
      <p:sp>
        <p:nvSpPr>
          <p:cNvPr id="14" name="Shape 12"/>
          <p:cNvSpPr/>
          <p:nvPr/>
        </p:nvSpPr>
        <p:spPr>
          <a:xfrm>
            <a:off x="4800600" y="1874520"/>
            <a:ext cx="3931920" cy="4754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800600" y="1874520"/>
            <a:ext cx="54864" cy="475488"/>
          </a:xfrm>
          <a:prstGeom prst="rect">
            <a:avLst/>
          </a:prstGeom>
          <a:solidFill>
            <a:srgbClr val="FFC220"/>
          </a:solidFill>
          <a:ln/>
        </p:spPr>
        <p:txBody>
          <a:bodyPr/>
          <a:lstStyle/>
          <a:p>
            <a:endParaRPr lang="en-US"/>
          </a:p>
        </p:txBody>
      </p:sp>
      <p:sp>
        <p:nvSpPr>
          <p:cNvPr id="16" name="Text 14"/>
          <p:cNvSpPr/>
          <p:nvPr/>
        </p:nvSpPr>
        <p:spPr>
          <a:xfrm>
            <a:off x="4919472" y="1901952"/>
            <a:ext cx="3749040" cy="402336"/>
          </a:xfrm>
          <a:prstGeom prst="rect">
            <a:avLst/>
          </a:prstGeom>
          <a:noFill/>
          <a:ln/>
        </p:spPr>
        <p:txBody>
          <a:bodyPr wrap="square" rtlCol="0" anchor="ctr"/>
          <a:lstStyle/>
          <a:p>
            <a:pPr marL="0" indent="0" algn="l">
              <a:buNone/>
            </a:pPr>
            <a:r>
              <a:rPr lang="en-US" sz="1050" dirty="0">
                <a:solidFill>
                  <a:srgbClr val="2D3748"/>
                </a:solidFill>
                <a:latin typeface="Calibri" pitchFamily="34" charset="0"/>
                <a:ea typeface="Calibri" pitchFamily="34" charset="-122"/>
                <a:cs typeface="Calibri" pitchFamily="34" charset="-120"/>
              </a:rPr>
              <a:t>👥  Determine which customer segment generates the highest lifetime value</a:t>
            </a:r>
            <a:endParaRPr lang="en-US" sz="1050" dirty="0"/>
          </a:p>
        </p:txBody>
      </p:sp>
      <p:sp>
        <p:nvSpPr>
          <p:cNvPr id="17" name="Shape 15"/>
          <p:cNvSpPr/>
          <p:nvPr/>
        </p:nvSpPr>
        <p:spPr>
          <a:xfrm>
            <a:off x="4800600" y="2423160"/>
            <a:ext cx="3931920" cy="4754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4800600" y="2423160"/>
            <a:ext cx="54864" cy="475488"/>
          </a:xfrm>
          <a:prstGeom prst="rect">
            <a:avLst/>
          </a:prstGeom>
          <a:solidFill>
            <a:srgbClr val="FFC220"/>
          </a:solidFill>
          <a:ln/>
        </p:spPr>
        <p:txBody>
          <a:bodyPr/>
          <a:lstStyle/>
          <a:p>
            <a:endParaRPr lang="en-US"/>
          </a:p>
        </p:txBody>
      </p:sp>
      <p:sp>
        <p:nvSpPr>
          <p:cNvPr id="19" name="Text 17"/>
          <p:cNvSpPr/>
          <p:nvPr/>
        </p:nvSpPr>
        <p:spPr>
          <a:xfrm>
            <a:off x="4919472" y="2450592"/>
            <a:ext cx="3749040" cy="402336"/>
          </a:xfrm>
          <a:prstGeom prst="rect">
            <a:avLst/>
          </a:prstGeom>
          <a:noFill/>
          <a:ln/>
        </p:spPr>
        <p:txBody>
          <a:bodyPr wrap="square" rtlCol="0" anchor="ctr"/>
          <a:lstStyle/>
          <a:p>
            <a:pPr marL="0" indent="0" algn="l">
              <a:buNone/>
            </a:pPr>
            <a:r>
              <a:rPr lang="en-US" sz="1050" dirty="0">
                <a:solidFill>
                  <a:srgbClr val="2D3748"/>
                </a:solidFill>
                <a:latin typeface="Calibri" pitchFamily="34" charset="0"/>
                <a:ea typeface="Calibri" pitchFamily="34" charset="-122"/>
                <a:cs typeface="Calibri" pitchFamily="34" charset="-120"/>
              </a:rPr>
              <a:t>🗺️  Pinpoint regions and states driving — and dragging — profitability</a:t>
            </a:r>
            <a:endParaRPr lang="en-US" sz="1050" dirty="0"/>
          </a:p>
        </p:txBody>
      </p:sp>
      <p:sp>
        <p:nvSpPr>
          <p:cNvPr id="20" name="Shape 18"/>
          <p:cNvSpPr/>
          <p:nvPr/>
        </p:nvSpPr>
        <p:spPr>
          <a:xfrm>
            <a:off x="4800600" y="2971800"/>
            <a:ext cx="3931920" cy="4754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4800600" y="2971800"/>
            <a:ext cx="54864" cy="475488"/>
          </a:xfrm>
          <a:prstGeom prst="rect">
            <a:avLst/>
          </a:prstGeom>
          <a:solidFill>
            <a:srgbClr val="FFC220"/>
          </a:solidFill>
          <a:ln/>
        </p:spPr>
        <p:txBody>
          <a:bodyPr/>
          <a:lstStyle/>
          <a:p>
            <a:endParaRPr lang="en-US"/>
          </a:p>
        </p:txBody>
      </p:sp>
      <p:sp>
        <p:nvSpPr>
          <p:cNvPr id="22" name="Text 20"/>
          <p:cNvSpPr/>
          <p:nvPr/>
        </p:nvSpPr>
        <p:spPr>
          <a:xfrm>
            <a:off x="4919472" y="2999232"/>
            <a:ext cx="3749040" cy="402336"/>
          </a:xfrm>
          <a:prstGeom prst="rect">
            <a:avLst/>
          </a:prstGeom>
          <a:noFill/>
          <a:ln/>
        </p:spPr>
        <p:txBody>
          <a:bodyPr wrap="square" rtlCol="0" anchor="ctr"/>
          <a:lstStyle/>
          <a:p>
            <a:pPr marL="0" indent="0" algn="l">
              <a:buNone/>
            </a:pPr>
            <a:r>
              <a:rPr lang="en-US" sz="1050" dirty="0">
                <a:solidFill>
                  <a:srgbClr val="2D3748"/>
                </a:solidFill>
                <a:latin typeface="Calibri" pitchFamily="34" charset="0"/>
                <a:ea typeface="Calibri" pitchFamily="34" charset="-122"/>
                <a:cs typeface="Calibri" pitchFamily="34" charset="-120"/>
              </a:rPr>
              <a:t>💸  Quantify the profitability impact of aggressive discounting strategies</a:t>
            </a:r>
            <a:endParaRPr lang="en-US" sz="1050" dirty="0"/>
          </a:p>
        </p:txBody>
      </p:sp>
      <p:sp>
        <p:nvSpPr>
          <p:cNvPr id="23" name="Shape 21"/>
          <p:cNvSpPr/>
          <p:nvPr/>
        </p:nvSpPr>
        <p:spPr>
          <a:xfrm>
            <a:off x="4800600" y="3520440"/>
            <a:ext cx="3931920" cy="4754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4800600" y="3520440"/>
            <a:ext cx="54864" cy="475488"/>
          </a:xfrm>
          <a:prstGeom prst="rect">
            <a:avLst/>
          </a:prstGeom>
          <a:solidFill>
            <a:srgbClr val="FFC220"/>
          </a:solidFill>
          <a:ln/>
        </p:spPr>
        <p:txBody>
          <a:bodyPr/>
          <a:lstStyle/>
          <a:p>
            <a:endParaRPr lang="en-US"/>
          </a:p>
        </p:txBody>
      </p:sp>
      <p:sp>
        <p:nvSpPr>
          <p:cNvPr id="25" name="Text 23"/>
          <p:cNvSpPr/>
          <p:nvPr/>
        </p:nvSpPr>
        <p:spPr>
          <a:xfrm>
            <a:off x="4919472" y="3547872"/>
            <a:ext cx="3749040" cy="402336"/>
          </a:xfrm>
          <a:prstGeom prst="rect">
            <a:avLst/>
          </a:prstGeom>
          <a:noFill/>
          <a:ln/>
        </p:spPr>
        <p:txBody>
          <a:bodyPr wrap="square" rtlCol="0" anchor="ctr"/>
          <a:lstStyle/>
          <a:p>
            <a:pPr marL="0" indent="0" algn="l">
              <a:buNone/>
            </a:pPr>
            <a:r>
              <a:rPr lang="en-US" sz="1050" dirty="0">
                <a:solidFill>
                  <a:srgbClr val="2D3748"/>
                </a:solidFill>
                <a:latin typeface="Calibri" pitchFamily="34" charset="0"/>
                <a:ea typeface="Calibri" pitchFamily="34" charset="-122"/>
                <a:cs typeface="Calibri" pitchFamily="34" charset="-120"/>
              </a:rPr>
              <a:t>📦  Evaluate shipping mode efficiency against order volume and delivery cost</a:t>
            </a:r>
            <a:endParaRPr lang="en-US" sz="1050" dirty="0"/>
          </a:p>
        </p:txBody>
      </p:sp>
      <p:sp>
        <p:nvSpPr>
          <p:cNvPr id="26" name="Shape 24"/>
          <p:cNvSpPr/>
          <p:nvPr/>
        </p:nvSpPr>
        <p:spPr>
          <a:xfrm>
            <a:off x="4800600" y="4069080"/>
            <a:ext cx="3931920" cy="4754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4800600" y="4069080"/>
            <a:ext cx="54864" cy="475488"/>
          </a:xfrm>
          <a:prstGeom prst="rect">
            <a:avLst/>
          </a:prstGeom>
          <a:solidFill>
            <a:srgbClr val="FFC220"/>
          </a:solidFill>
          <a:ln/>
        </p:spPr>
        <p:txBody>
          <a:bodyPr/>
          <a:lstStyle/>
          <a:p>
            <a:endParaRPr lang="en-US"/>
          </a:p>
        </p:txBody>
      </p:sp>
      <p:sp>
        <p:nvSpPr>
          <p:cNvPr id="28" name="Text 26"/>
          <p:cNvSpPr/>
          <p:nvPr/>
        </p:nvSpPr>
        <p:spPr>
          <a:xfrm>
            <a:off x="4919472" y="4096512"/>
            <a:ext cx="3749040" cy="402336"/>
          </a:xfrm>
          <a:prstGeom prst="rect">
            <a:avLst/>
          </a:prstGeom>
          <a:noFill/>
          <a:ln/>
        </p:spPr>
        <p:txBody>
          <a:bodyPr wrap="square" rtlCol="0" anchor="ctr"/>
          <a:lstStyle/>
          <a:p>
            <a:pPr marL="0" indent="0" algn="l">
              <a:buNone/>
            </a:pPr>
            <a:r>
              <a:rPr lang="en-US" sz="1050" dirty="0">
                <a:solidFill>
                  <a:srgbClr val="2D3748"/>
                </a:solidFill>
                <a:latin typeface="Calibri" pitchFamily="34" charset="0"/>
                <a:ea typeface="Calibri" pitchFamily="34" charset="-122"/>
                <a:cs typeface="Calibri" pitchFamily="34" charset="-120"/>
              </a:rPr>
              <a:t>📈  Deliver a strategic TARGET vs. AVOID matrix for growth planning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Dataset Overview</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4 / 20</a:t>
            </a:r>
            <a:endParaRPr lang="en-US" sz="1100" dirty="0"/>
          </a:p>
        </p:txBody>
      </p:sp>
      <p:sp>
        <p:nvSpPr>
          <p:cNvPr id="6" name="Shape 4"/>
          <p:cNvSpPr/>
          <p:nvPr/>
        </p:nvSpPr>
        <p:spPr>
          <a:xfrm>
            <a:off x="320040" y="960120"/>
            <a:ext cx="1965960" cy="9326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20040" y="960120"/>
            <a:ext cx="64008" cy="932688"/>
          </a:xfrm>
          <a:prstGeom prst="rect">
            <a:avLst/>
          </a:prstGeom>
          <a:solidFill>
            <a:srgbClr val="0D3580"/>
          </a:solidFill>
          <a:ln/>
        </p:spPr>
        <p:txBody>
          <a:bodyPr/>
          <a:lstStyle/>
          <a:p>
            <a:endParaRPr lang="en-US"/>
          </a:p>
        </p:txBody>
      </p:sp>
      <p:sp>
        <p:nvSpPr>
          <p:cNvPr id="8" name="Text 6"/>
          <p:cNvSpPr/>
          <p:nvPr/>
        </p:nvSpPr>
        <p:spPr>
          <a:xfrm>
            <a:off x="429768" y="1033272"/>
            <a:ext cx="1783080" cy="522305"/>
          </a:xfrm>
          <a:prstGeom prst="rect">
            <a:avLst/>
          </a:prstGeom>
          <a:noFill/>
          <a:ln/>
        </p:spPr>
        <p:txBody>
          <a:bodyPr wrap="square" lIns="0" tIns="0" rIns="0" bIns="0" rtlCol="0" anchor="ctr"/>
          <a:lstStyle/>
          <a:p>
            <a:pPr marL="0" indent="0" algn="l">
              <a:buNone/>
            </a:pPr>
            <a:r>
              <a:rPr lang="en-US" sz="2600" b="1" dirty="0">
                <a:solidFill>
                  <a:srgbClr val="0D3580"/>
                </a:solidFill>
                <a:latin typeface="Calibri" pitchFamily="34" charset="0"/>
                <a:ea typeface="Calibri" pitchFamily="34" charset="-122"/>
                <a:cs typeface="Calibri" pitchFamily="34" charset="-120"/>
              </a:rPr>
              <a:t>9,995</a:t>
            </a:r>
            <a:endParaRPr lang="en-US" sz="2600" dirty="0"/>
          </a:p>
        </p:txBody>
      </p:sp>
      <p:sp>
        <p:nvSpPr>
          <p:cNvPr id="9" name="Text 7"/>
          <p:cNvSpPr/>
          <p:nvPr/>
        </p:nvSpPr>
        <p:spPr>
          <a:xfrm>
            <a:off x="429768" y="1519733"/>
            <a:ext cx="1783080" cy="335768"/>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Total Records (Rows)</a:t>
            </a:r>
            <a:endParaRPr lang="en-US" sz="1000" dirty="0"/>
          </a:p>
        </p:txBody>
      </p:sp>
      <p:sp>
        <p:nvSpPr>
          <p:cNvPr id="10" name="Shape 8"/>
          <p:cNvSpPr/>
          <p:nvPr/>
        </p:nvSpPr>
        <p:spPr>
          <a:xfrm>
            <a:off x="2468880" y="960120"/>
            <a:ext cx="1965960" cy="9326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2468880" y="960120"/>
            <a:ext cx="64008" cy="932688"/>
          </a:xfrm>
          <a:prstGeom prst="rect">
            <a:avLst/>
          </a:prstGeom>
          <a:solidFill>
            <a:srgbClr val="0D7AB5"/>
          </a:solidFill>
          <a:ln/>
        </p:spPr>
        <p:txBody>
          <a:bodyPr/>
          <a:lstStyle/>
          <a:p>
            <a:endParaRPr lang="en-US"/>
          </a:p>
        </p:txBody>
      </p:sp>
      <p:sp>
        <p:nvSpPr>
          <p:cNvPr id="12" name="Text 10"/>
          <p:cNvSpPr/>
          <p:nvPr/>
        </p:nvSpPr>
        <p:spPr>
          <a:xfrm>
            <a:off x="2578608" y="1033272"/>
            <a:ext cx="1783080" cy="522305"/>
          </a:xfrm>
          <a:prstGeom prst="rect">
            <a:avLst/>
          </a:prstGeom>
          <a:noFill/>
          <a:ln/>
        </p:spPr>
        <p:txBody>
          <a:bodyPr wrap="square" lIns="0" tIns="0" rIns="0" bIns="0" rtlCol="0" anchor="ctr"/>
          <a:lstStyle/>
          <a:p>
            <a:pPr marL="0" indent="0" algn="l">
              <a:buNone/>
            </a:pPr>
            <a:r>
              <a:rPr lang="en-US" sz="2600" b="1" dirty="0">
                <a:solidFill>
                  <a:srgbClr val="0D7AB5"/>
                </a:solidFill>
                <a:latin typeface="Calibri" pitchFamily="34" charset="0"/>
                <a:ea typeface="Calibri" pitchFamily="34" charset="-122"/>
                <a:cs typeface="Calibri" pitchFamily="34" charset="-120"/>
              </a:rPr>
              <a:t>21</a:t>
            </a:r>
            <a:endParaRPr lang="en-US" sz="2600" dirty="0"/>
          </a:p>
        </p:txBody>
      </p:sp>
      <p:sp>
        <p:nvSpPr>
          <p:cNvPr id="13" name="Text 11"/>
          <p:cNvSpPr/>
          <p:nvPr/>
        </p:nvSpPr>
        <p:spPr>
          <a:xfrm>
            <a:off x="2578608" y="1519733"/>
            <a:ext cx="1783080" cy="335768"/>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Feature Variables (Columns)</a:t>
            </a:r>
            <a:endParaRPr lang="en-US" sz="1000" dirty="0"/>
          </a:p>
        </p:txBody>
      </p:sp>
      <p:sp>
        <p:nvSpPr>
          <p:cNvPr id="14" name="Shape 12"/>
          <p:cNvSpPr/>
          <p:nvPr/>
        </p:nvSpPr>
        <p:spPr>
          <a:xfrm>
            <a:off x="4617720" y="960120"/>
            <a:ext cx="1965960" cy="9326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617720" y="960120"/>
            <a:ext cx="64008" cy="932688"/>
          </a:xfrm>
          <a:prstGeom prst="rect">
            <a:avLst/>
          </a:prstGeom>
          <a:solidFill>
            <a:srgbClr val="155E75"/>
          </a:solidFill>
          <a:ln/>
        </p:spPr>
        <p:txBody>
          <a:bodyPr/>
          <a:lstStyle/>
          <a:p>
            <a:endParaRPr lang="en-US"/>
          </a:p>
        </p:txBody>
      </p:sp>
      <p:sp>
        <p:nvSpPr>
          <p:cNvPr id="16" name="Text 14"/>
          <p:cNvSpPr/>
          <p:nvPr/>
        </p:nvSpPr>
        <p:spPr>
          <a:xfrm>
            <a:off x="4727448" y="1033272"/>
            <a:ext cx="1783080" cy="522305"/>
          </a:xfrm>
          <a:prstGeom prst="rect">
            <a:avLst/>
          </a:prstGeom>
          <a:noFill/>
          <a:ln/>
        </p:spPr>
        <p:txBody>
          <a:bodyPr wrap="square" lIns="0" tIns="0" rIns="0" bIns="0" rtlCol="0" anchor="ctr"/>
          <a:lstStyle/>
          <a:p>
            <a:pPr marL="0" indent="0" algn="l">
              <a:buNone/>
            </a:pPr>
            <a:r>
              <a:rPr lang="en-US" sz="2600" b="1" dirty="0">
                <a:solidFill>
                  <a:srgbClr val="155E75"/>
                </a:solidFill>
                <a:latin typeface="Calibri" pitchFamily="34" charset="0"/>
                <a:ea typeface="Calibri" pitchFamily="34" charset="-122"/>
                <a:cs typeface="Calibri" pitchFamily="34" charset="-120"/>
              </a:rPr>
              <a:t>4</a:t>
            </a:r>
            <a:endParaRPr lang="en-US" sz="2600" dirty="0"/>
          </a:p>
        </p:txBody>
      </p:sp>
      <p:sp>
        <p:nvSpPr>
          <p:cNvPr id="17" name="Text 15"/>
          <p:cNvSpPr/>
          <p:nvPr/>
        </p:nvSpPr>
        <p:spPr>
          <a:xfrm>
            <a:off x="4727448" y="1519733"/>
            <a:ext cx="1783080" cy="335768"/>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U.S. Regions Covered</a:t>
            </a:r>
            <a:endParaRPr lang="en-US" sz="1000" dirty="0"/>
          </a:p>
        </p:txBody>
      </p:sp>
      <p:sp>
        <p:nvSpPr>
          <p:cNvPr id="18" name="Shape 16"/>
          <p:cNvSpPr/>
          <p:nvPr/>
        </p:nvSpPr>
        <p:spPr>
          <a:xfrm>
            <a:off x="6766560" y="960120"/>
            <a:ext cx="1965960" cy="9326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6766560" y="960120"/>
            <a:ext cx="64008" cy="932688"/>
          </a:xfrm>
          <a:prstGeom prst="rect">
            <a:avLst/>
          </a:prstGeom>
          <a:solidFill>
            <a:srgbClr val="7C3AED"/>
          </a:solidFill>
          <a:ln/>
        </p:spPr>
        <p:txBody>
          <a:bodyPr/>
          <a:lstStyle/>
          <a:p>
            <a:endParaRPr lang="en-US"/>
          </a:p>
        </p:txBody>
      </p:sp>
      <p:sp>
        <p:nvSpPr>
          <p:cNvPr id="20" name="Text 18"/>
          <p:cNvSpPr/>
          <p:nvPr/>
        </p:nvSpPr>
        <p:spPr>
          <a:xfrm>
            <a:off x="6876288" y="1033272"/>
            <a:ext cx="1783080" cy="522305"/>
          </a:xfrm>
          <a:prstGeom prst="rect">
            <a:avLst/>
          </a:prstGeom>
          <a:noFill/>
          <a:ln/>
        </p:spPr>
        <p:txBody>
          <a:bodyPr wrap="square" lIns="0" tIns="0" rIns="0" bIns="0" rtlCol="0" anchor="ctr"/>
          <a:lstStyle/>
          <a:p>
            <a:pPr marL="0" indent="0" algn="l">
              <a:buNone/>
            </a:pPr>
            <a:r>
              <a:rPr lang="en-US" sz="2600" b="1" dirty="0">
                <a:solidFill>
                  <a:srgbClr val="7C3AED"/>
                </a:solidFill>
                <a:latin typeface="Calibri" pitchFamily="34" charset="0"/>
                <a:ea typeface="Calibri" pitchFamily="34" charset="-122"/>
                <a:cs typeface="Calibri" pitchFamily="34" charset="-120"/>
              </a:rPr>
              <a:t>3</a:t>
            </a:r>
            <a:endParaRPr lang="en-US" sz="2600" dirty="0"/>
          </a:p>
        </p:txBody>
      </p:sp>
      <p:sp>
        <p:nvSpPr>
          <p:cNvPr id="21" name="Text 19"/>
          <p:cNvSpPr/>
          <p:nvPr/>
        </p:nvSpPr>
        <p:spPr>
          <a:xfrm>
            <a:off x="6876288" y="1519733"/>
            <a:ext cx="1783080" cy="335768"/>
          </a:xfrm>
          <a:prstGeom prst="rect">
            <a:avLst/>
          </a:prstGeom>
          <a:noFill/>
          <a:ln/>
        </p:spPr>
        <p:txBody>
          <a:bodyPr wrap="square" lIns="0" tIns="0" rIns="0" bIns="0"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Product Categories</a:t>
            </a:r>
            <a:endParaRPr lang="en-US" sz="1000" dirty="0"/>
          </a:p>
        </p:txBody>
      </p:sp>
      <p:sp>
        <p:nvSpPr>
          <p:cNvPr id="22" name="Text 20"/>
          <p:cNvSpPr/>
          <p:nvPr/>
        </p:nvSpPr>
        <p:spPr>
          <a:xfrm>
            <a:off x="320040" y="2084832"/>
            <a:ext cx="8503920" cy="320040"/>
          </a:xfrm>
          <a:prstGeom prst="rect">
            <a:avLst/>
          </a:prstGeom>
          <a:noFill/>
          <a:ln/>
        </p:spPr>
        <p:txBody>
          <a:bodyPr wrap="square" rtlCol="0" anchor="ctr"/>
          <a:lstStyle/>
          <a:p>
            <a:pPr marL="0" indent="0">
              <a:buNone/>
            </a:pPr>
            <a:r>
              <a:rPr lang="en-US" sz="1400" b="1" dirty="0">
                <a:solidFill>
                  <a:srgbClr val="0D3580"/>
                </a:solidFill>
                <a:latin typeface="Calibri" pitchFamily="34" charset="0"/>
                <a:ea typeface="Calibri" pitchFamily="34" charset="-122"/>
                <a:cs typeface="Calibri" pitchFamily="34" charset="-120"/>
              </a:rPr>
              <a:t>Key Variables Used in This Analysis</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20040" y="2423160"/>
          <a:ext cx="8503920" cy="2684067"/>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254203">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358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358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358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Analytical Role</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3580"/>
                    </a:solidFill>
                  </a:tcPr>
                </a:tc>
                <a:extLst>
                  <a:ext uri="{0D108BD9-81ED-4DB2-BD59-A6C34878D82A}">
                    <a16:rowId xmlns:a16="http://schemas.microsoft.com/office/drawing/2014/main" val="10000"/>
                  </a:ext>
                </a:extLst>
              </a:tr>
              <a:tr h="254203">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Order Date</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Date</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Date of transaction placement</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Time series &amp; seasonality analysis</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4203">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Ship Mode</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Categorical</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Standard / Second / First / Same Day</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Shipping efficiency modeling</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4203">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Segment</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Categorical</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Consumer, Corporate, Home Office</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Customer segment profiling</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4203">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Region / State</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Categorical</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4 U.S. regions, 49 states</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Geographic performance mapping</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4203">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Category / Sub-Category</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Categorical</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3 categories, 17 sub-categories</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Product performance ranking</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4203">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Sales</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Numeric ($)</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Revenue per line item</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Primary KPI for performance</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4203">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Quantity</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Numeric</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Units sold per order line</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Demand and volume analysis</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4203">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Discount</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Numeric (0–1)</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Proportion discount applied</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Margin erosion modeling</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4203">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Profit</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Numeric ($)</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Net profit per line item</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Calibri" pitchFamily="34" charset="0"/>
                          <a:ea typeface="Calibri" pitchFamily="34" charset="-122"/>
                          <a:cs typeface="Calibri" pitchFamily="34" charset="-120"/>
                        </a:rPr>
                        <a:t>Profitability and loss detection</a:t>
                      </a:r>
                      <a:endParaRPr lang="en-US" sz="10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Methodology &amp; Tech Stack</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5 / 20</a:t>
            </a:r>
            <a:endParaRPr lang="en-US" sz="1100" dirty="0"/>
          </a:p>
        </p:txBody>
      </p:sp>
      <p:sp>
        <p:nvSpPr>
          <p:cNvPr id="6" name="Shape 4"/>
          <p:cNvSpPr/>
          <p:nvPr/>
        </p:nvSpPr>
        <p:spPr>
          <a:xfrm>
            <a:off x="320040" y="969264"/>
            <a:ext cx="402336" cy="402336"/>
          </a:xfrm>
          <a:prstGeom prst="ellipse">
            <a:avLst/>
          </a:prstGeom>
          <a:solidFill>
            <a:srgbClr val="0D3580"/>
          </a:solidFill>
          <a:ln/>
        </p:spPr>
        <p:txBody>
          <a:bodyPr/>
          <a:lstStyle/>
          <a:p>
            <a:endParaRPr lang="en-US"/>
          </a:p>
        </p:txBody>
      </p:sp>
      <p:sp>
        <p:nvSpPr>
          <p:cNvPr id="7" name="Text 5"/>
          <p:cNvSpPr/>
          <p:nvPr/>
        </p:nvSpPr>
        <p:spPr>
          <a:xfrm>
            <a:off x="320040" y="969264"/>
            <a:ext cx="402336" cy="402336"/>
          </a:xfrm>
          <a:prstGeom prst="rect">
            <a:avLst/>
          </a:prstGeom>
          <a:noFill/>
          <a:ln/>
        </p:spPr>
        <p:txBody>
          <a:bodyPr wrap="square" lIns="0" tIns="0" rIns="0" bIns="0" rtlCol="0" anchor="ctr"/>
          <a:lstStyle/>
          <a:p>
            <a:pPr marL="0" indent="0" algn="ctr">
              <a:buNone/>
            </a:pPr>
            <a:r>
              <a:rPr lang="en-US" sz="1400" b="1" dirty="0">
                <a:solidFill>
                  <a:srgbClr val="FFC220"/>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804672" y="932688"/>
            <a:ext cx="3657600" cy="237744"/>
          </a:xfrm>
          <a:prstGeom prst="rect">
            <a:avLst/>
          </a:prstGeom>
          <a:noFill/>
          <a:ln/>
        </p:spPr>
        <p:txBody>
          <a:bodyPr wrap="square" lIns="0" tIns="0" rIns="0" bIns="0" rtlCol="0" anchor="ctr"/>
          <a:lstStyle/>
          <a:p>
            <a:pPr marL="0" indent="0">
              <a:buNone/>
            </a:pPr>
            <a:r>
              <a:rPr lang="en-US" sz="1150" b="1" dirty="0">
                <a:solidFill>
                  <a:srgbClr val="0D3580"/>
                </a:solidFill>
                <a:latin typeface="Calibri" pitchFamily="34" charset="0"/>
                <a:ea typeface="Calibri" pitchFamily="34" charset="-122"/>
                <a:cs typeface="Calibri" pitchFamily="34" charset="-120"/>
              </a:rPr>
              <a:t>Data Ingestion</a:t>
            </a:r>
            <a:endParaRPr lang="en-US" sz="1150" dirty="0"/>
          </a:p>
        </p:txBody>
      </p:sp>
      <p:sp>
        <p:nvSpPr>
          <p:cNvPr id="9" name="Text 7"/>
          <p:cNvSpPr/>
          <p:nvPr/>
        </p:nvSpPr>
        <p:spPr>
          <a:xfrm>
            <a:off x="804672" y="1170432"/>
            <a:ext cx="3840480" cy="40233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Loaded CSV into Pandas DataFrame (9,995 × 21). Performed initial `.info()` and `.describe()` profiling.</a:t>
            </a:r>
            <a:endParaRPr lang="en-US" sz="950" dirty="0"/>
          </a:p>
        </p:txBody>
      </p:sp>
      <p:sp>
        <p:nvSpPr>
          <p:cNvPr id="10" name="Shape 8"/>
          <p:cNvSpPr/>
          <p:nvPr/>
        </p:nvSpPr>
        <p:spPr>
          <a:xfrm>
            <a:off x="493776" y="1371600"/>
            <a:ext cx="36576" cy="256032"/>
          </a:xfrm>
          <a:prstGeom prst="rect">
            <a:avLst/>
          </a:prstGeom>
          <a:solidFill>
            <a:srgbClr val="CBD5E1"/>
          </a:solidFill>
          <a:ln/>
        </p:spPr>
        <p:txBody>
          <a:bodyPr/>
          <a:lstStyle/>
          <a:p>
            <a:endParaRPr lang="en-US"/>
          </a:p>
        </p:txBody>
      </p:sp>
      <p:sp>
        <p:nvSpPr>
          <p:cNvPr id="11" name="Shape 9"/>
          <p:cNvSpPr/>
          <p:nvPr/>
        </p:nvSpPr>
        <p:spPr>
          <a:xfrm>
            <a:off x="320040" y="1645920"/>
            <a:ext cx="402336" cy="402336"/>
          </a:xfrm>
          <a:prstGeom prst="ellipse">
            <a:avLst/>
          </a:prstGeom>
          <a:solidFill>
            <a:srgbClr val="0D3580"/>
          </a:solidFill>
          <a:ln/>
        </p:spPr>
        <p:txBody>
          <a:bodyPr/>
          <a:lstStyle/>
          <a:p>
            <a:endParaRPr lang="en-US"/>
          </a:p>
        </p:txBody>
      </p:sp>
      <p:sp>
        <p:nvSpPr>
          <p:cNvPr id="12" name="Text 10"/>
          <p:cNvSpPr/>
          <p:nvPr/>
        </p:nvSpPr>
        <p:spPr>
          <a:xfrm>
            <a:off x="320040" y="1645920"/>
            <a:ext cx="402336" cy="402336"/>
          </a:xfrm>
          <a:prstGeom prst="rect">
            <a:avLst/>
          </a:prstGeom>
          <a:noFill/>
          <a:ln/>
        </p:spPr>
        <p:txBody>
          <a:bodyPr wrap="square" lIns="0" tIns="0" rIns="0" bIns="0" rtlCol="0" anchor="ctr"/>
          <a:lstStyle/>
          <a:p>
            <a:pPr marL="0" indent="0" algn="ctr">
              <a:buNone/>
            </a:pPr>
            <a:r>
              <a:rPr lang="en-US" sz="1400" b="1" dirty="0">
                <a:solidFill>
                  <a:srgbClr val="FFC220"/>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804672" y="1609344"/>
            <a:ext cx="3657600" cy="237744"/>
          </a:xfrm>
          <a:prstGeom prst="rect">
            <a:avLst/>
          </a:prstGeom>
          <a:noFill/>
          <a:ln/>
        </p:spPr>
        <p:txBody>
          <a:bodyPr wrap="square" lIns="0" tIns="0" rIns="0" bIns="0" rtlCol="0" anchor="ctr"/>
          <a:lstStyle/>
          <a:p>
            <a:pPr marL="0" indent="0">
              <a:buNone/>
            </a:pPr>
            <a:r>
              <a:rPr lang="en-US" sz="1150" b="1" dirty="0">
                <a:solidFill>
                  <a:srgbClr val="0D3580"/>
                </a:solidFill>
                <a:latin typeface="Calibri" pitchFamily="34" charset="0"/>
                <a:ea typeface="Calibri" pitchFamily="34" charset="-122"/>
                <a:cs typeface="Calibri" pitchFamily="34" charset="-120"/>
              </a:rPr>
              <a:t>EDA &amp; Visualization</a:t>
            </a:r>
            <a:endParaRPr lang="en-US" sz="1150" dirty="0"/>
          </a:p>
        </p:txBody>
      </p:sp>
      <p:sp>
        <p:nvSpPr>
          <p:cNvPr id="14" name="Text 12"/>
          <p:cNvSpPr/>
          <p:nvPr/>
        </p:nvSpPr>
        <p:spPr>
          <a:xfrm>
            <a:off x="804672" y="1847088"/>
            <a:ext cx="3840480" cy="40233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Generated correlation heatmaps, scatter plots, histograms, and box plots using Matplotlib &amp; Seaborn.</a:t>
            </a:r>
            <a:endParaRPr lang="en-US" sz="950" dirty="0"/>
          </a:p>
        </p:txBody>
      </p:sp>
      <p:sp>
        <p:nvSpPr>
          <p:cNvPr id="15" name="Shape 13"/>
          <p:cNvSpPr/>
          <p:nvPr/>
        </p:nvSpPr>
        <p:spPr>
          <a:xfrm>
            <a:off x="493776" y="2048256"/>
            <a:ext cx="36576" cy="256032"/>
          </a:xfrm>
          <a:prstGeom prst="rect">
            <a:avLst/>
          </a:prstGeom>
          <a:solidFill>
            <a:srgbClr val="CBD5E1"/>
          </a:solidFill>
          <a:ln/>
        </p:spPr>
        <p:txBody>
          <a:bodyPr/>
          <a:lstStyle/>
          <a:p>
            <a:endParaRPr lang="en-US"/>
          </a:p>
        </p:txBody>
      </p:sp>
      <p:sp>
        <p:nvSpPr>
          <p:cNvPr id="16" name="Shape 14"/>
          <p:cNvSpPr/>
          <p:nvPr/>
        </p:nvSpPr>
        <p:spPr>
          <a:xfrm>
            <a:off x="320040" y="2322576"/>
            <a:ext cx="402336" cy="402336"/>
          </a:xfrm>
          <a:prstGeom prst="ellipse">
            <a:avLst/>
          </a:prstGeom>
          <a:solidFill>
            <a:srgbClr val="0D3580"/>
          </a:solidFill>
          <a:ln/>
        </p:spPr>
        <p:txBody>
          <a:bodyPr/>
          <a:lstStyle/>
          <a:p>
            <a:endParaRPr lang="en-US"/>
          </a:p>
        </p:txBody>
      </p:sp>
      <p:sp>
        <p:nvSpPr>
          <p:cNvPr id="17" name="Text 15"/>
          <p:cNvSpPr/>
          <p:nvPr/>
        </p:nvSpPr>
        <p:spPr>
          <a:xfrm>
            <a:off x="320040" y="2322576"/>
            <a:ext cx="402336" cy="402336"/>
          </a:xfrm>
          <a:prstGeom prst="rect">
            <a:avLst/>
          </a:prstGeom>
          <a:noFill/>
          <a:ln/>
        </p:spPr>
        <p:txBody>
          <a:bodyPr wrap="square" lIns="0" tIns="0" rIns="0" bIns="0" rtlCol="0" anchor="ctr"/>
          <a:lstStyle/>
          <a:p>
            <a:pPr marL="0" indent="0" algn="ctr">
              <a:buNone/>
            </a:pPr>
            <a:r>
              <a:rPr lang="en-US" sz="1400" b="1" dirty="0">
                <a:solidFill>
                  <a:srgbClr val="FFC220"/>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04672" y="2286000"/>
            <a:ext cx="3657600" cy="237744"/>
          </a:xfrm>
          <a:prstGeom prst="rect">
            <a:avLst/>
          </a:prstGeom>
          <a:noFill/>
          <a:ln/>
        </p:spPr>
        <p:txBody>
          <a:bodyPr wrap="square" lIns="0" tIns="0" rIns="0" bIns="0" rtlCol="0" anchor="ctr"/>
          <a:lstStyle/>
          <a:p>
            <a:pPr marL="0" indent="0">
              <a:buNone/>
            </a:pPr>
            <a:r>
              <a:rPr lang="en-US" sz="1150" b="1" dirty="0">
                <a:solidFill>
                  <a:srgbClr val="0D3580"/>
                </a:solidFill>
                <a:latin typeface="Calibri" pitchFamily="34" charset="0"/>
                <a:ea typeface="Calibri" pitchFamily="34" charset="-122"/>
                <a:cs typeface="Calibri" pitchFamily="34" charset="-120"/>
              </a:rPr>
              <a:t>Data Cleaning</a:t>
            </a:r>
            <a:endParaRPr lang="en-US" sz="1150" dirty="0"/>
          </a:p>
        </p:txBody>
      </p:sp>
      <p:sp>
        <p:nvSpPr>
          <p:cNvPr id="19" name="Text 17"/>
          <p:cNvSpPr/>
          <p:nvPr/>
        </p:nvSpPr>
        <p:spPr>
          <a:xfrm>
            <a:off x="804672" y="2523744"/>
            <a:ext cx="3840480" cy="40233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Removed duplicates; dropped nulls via `.dropna()`; converted date columns; applied IQR outlier filtering on Sales, Profit, Quantity &amp; Discount.</a:t>
            </a:r>
            <a:endParaRPr lang="en-US" sz="950" dirty="0"/>
          </a:p>
        </p:txBody>
      </p:sp>
      <p:sp>
        <p:nvSpPr>
          <p:cNvPr id="20" name="Shape 18"/>
          <p:cNvSpPr/>
          <p:nvPr/>
        </p:nvSpPr>
        <p:spPr>
          <a:xfrm>
            <a:off x="493776" y="2724912"/>
            <a:ext cx="36576" cy="256032"/>
          </a:xfrm>
          <a:prstGeom prst="rect">
            <a:avLst/>
          </a:prstGeom>
          <a:solidFill>
            <a:srgbClr val="CBD5E1"/>
          </a:solidFill>
          <a:ln/>
        </p:spPr>
        <p:txBody>
          <a:bodyPr/>
          <a:lstStyle/>
          <a:p>
            <a:endParaRPr lang="en-US"/>
          </a:p>
        </p:txBody>
      </p:sp>
      <p:sp>
        <p:nvSpPr>
          <p:cNvPr id="21" name="Shape 19"/>
          <p:cNvSpPr/>
          <p:nvPr/>
        </p:nvSpPr>
        <p:spPr>
          <a:xfrm>
            <a:off x="320040" y="2999232"/>
            <a:ext cx="402336" cy="402336"/>
          </a:xfrm>
          <a:prstGeom prst="ellipse">
            <a:avLst/>
          </a:prstGeom>
          <a:solidFill>
            <a:srgbClr val="0D3580"/>
          </a:solidFill>
          <a:ln/>
        </p:spPr>
        <p:txBody>
          <a:bodyPr/>
          <a:lstStyle/>
          <a:p>
            <a:endParaRPr lang="en-US"/>
          </a:p>
        </p:txBody>
      </p:sp>
      <p:sp>
        <p:nvSpPr>
          <p:cNvPr id="22" name="Text 20"/>
          <p:cNvSpPr/>
          <p:nvPr/>
        </p:nvSpPr>
        <p:spPr>
          <a:xfrm>
            <a:off x="320040" y="2999232"/>
            <a:ext cx="402336" cy="402336"/>
          </a:xfrm>
          <a:prstGeom prst="rect">
            <a:avLst/>
          </a:prstGeom>
          <a:noFill/>
          <a:ln/>
        </p:spPr>
        <p:txBody>
          <a:bodyPr wrap="square" lIns="0" tIns="0" rIns="0" bIns="0" rtlCol="0" anchor="ctr"/>
          <a:lstStyle/>
          <a:p>
            <a:pPr marL="0" indent="0" algn="ctr">
              <a:buNone/>
            </a:pPr>
            <a:r>
              <a:rPr lang="en-US" sz="1400" b="1" dirty="0">
                <a:solidFill>
                  <a:srgbClr val="FFC220"/>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804672" y="2962656"/>
            <a:ext cx="3657600" cy="237744"/>
          </a:xfrm>
          <a:prstGeom prst="rect">
            <a:avLst/>
          </a:prstGeom>
          <a:noFill/>
          <a:ln/>
        </p:spPr>
        <p:txBody>
          <a:bodyPr wrap="square" lIns="0" tIns="0" rIns="0" bIns="0" rtlCol="0" anchor="ctr"/>
          <a:lstStyle/>
          <a:p>
            <a:pPr marL="0" indent="0">
              <a:buNone/>
            </a:pPr>
            <a:r>
              <a:rPr lang="en-US" sz="1150" b="1" dirty="0">
                <a:solidFill>
                  <a:srgbClr val="0D3580"/>
                </a:solidFill>
                <a:latin typeface="Calibri" pitchFamily="34" charset="0"/>
                <a:ea typeface="Calibri" pitchFamily="34" charset="-122"/>
                <a:cs typeface="Calibri" pitchFamily="34" charset="-120"/>
              </a:rPr>
              <a:t>Feature Engineering</a:t>
            </a:r>
            <a:endParaRPr lang="en-US" sz="1150" dirty="0"/>
          </a:p>
        </p:txBody>
      </p:sp>
      <p:sp>
        <p:nvSpPr>
          <p:cNvPr id="24" name="Text 22"/>
          <p:cNvSpPr/>
          <p:nvPr/>
        </p:nvSpPr>
        <p:spPr>
          <a:xfrm>
            <a:off x="804672" y="3200400"/>
            <a:ext cx="3840480" cy="40233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Encoded categorical variables (Label Encoding); extracted Month &amp; Quarter from Order Date for time series resampling.</a:t>
            </a:r>
            <a:endParaRPr lang="en-US" sz="950" dirty="0"/>
          </a:p>
        </p:txBody>
      </p:sp>
      <p:sp>
        <p:nvSpPr>
          <p:cNvPr id="25" name="Shape 23"/>
          <p:cNvSpPr/>
          <p:nvPr/>
        </p:nvSpPr>
        <p:spPr>
          <a:xfrm>
            <a:off x="493776" y="3401568"/>
            <a:ext cx="36576" cy="256032"/>
          </a:xfrm>
          <a:prstGeom prst="rect">
            <a:avLst/>
          </a:prstGeom>
          <a:solidFill>
            <a:srgbClr val="CBD5E1"/>
          </a:solidFill>
          <a:ln/>
        </p:spPr>
        <p:txBody>
          <a:bodyPr/>
          <a:lstStyle/>
          <a:p>
            <a:endParaRPr lang="en-US"/>
          </a:p>
        </p:txBody>
      </p:sp>
      <p:sp>
        <p:nvSpPr>
          <p:cNvPr id="26" name="Shape 24"/>
          <p:cNvSpPr/>
          <p:nvPr/>
        </p:nvSpPr>
        <p:spPr>
          <a:xfrm>
            <a:off x="320040" y="3675888"/>
            <a:ext cx="402336" cy="402336"/>
          </a:xfrm>
          <a:prstGeom prst="ellipse">
            <a:avLst/>
          </a:prstGeom>
          <a:solidFill>
            <a:srgbClr val="0D3580"/>
          </a:solidFill>
          <a:ln/>
        </p:spPr>
        <p:txBody>
          <a:bodyPr/>
          <a:lstStyle/>
          <a:p>
            <a:endParaRPr lang="en-US"/>
          </a:p>
        </p:txBody>
      </p:sp>
      <p:sp>
        <p:nvSpPr>
          <p:cNvPr id="27" name="Text 25"/>
          <p:cNvSpPr/>
          <p:nvPr/>
        </p:nvSpPr>
        <p:spPr>
          <a:xfrm>
            <a:off x="320040" y="3675888"/>
            <a:ext cx="402336" cy="402336"/>
          </a:xfrm>
          <a:prstGeom prst="rect">
            <a:avLst/>
          </a:prstGeom>
          <a:noFill/>
          <a:ln/>
        </p:spPr>
        <p:txBody>
          <a:bodyPr wrap="square" lIns="0" tIns="0" rIns="0" bIns="0" rtlCol="0" anchor="ctr"/>
          <a:lstStyle/>
          <a:p>
            <a:pPr marL="0" indent="0" algn="ctr">
              <a:buNone/>
            </a:pPr>
            <a:r>
              <a:rPr lang="en-US" sz="1400" b="1" dirty="0">
                <a:solidFill>
                  <a:srgbClr val="FFC220"/>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804672" y="3639312"/>
            <a:ext cx="3657600" cy="237744"/>
          </a:xfrm>
          <a:prstGeom prst="rect">
            <a:avLst/>
          </a:prstGeom>
          <a:noFill/>
          <a:ln/>
        </p:spPr>
        <p:txBody>
          <a:bodyPr wrap="square" lIns="0" tIns="0" rIns="0" bIns="0" rtlCol="0" anchor="ctr"/>
          <a:lstStyle/>
          <a:p>
            <a:pPr marL="0" indent="0">
              <a:buNone/>
            </a:pPr>
            <a:r>
              <a:rPr lang="en-US" sz="1150" b="1" dirty="0">
                <a:solidFill>
                  <a:srgbClr val="0D3580"/>
                </a:solidFill>
                <a:latin typeface="Calibri" pitchFamily="34" charset="0"/>
                <a:ea typeface="Calibri" pitchFamily="34" charset="-122"/>
                <a:cs typeface="Calibri" pitchFamily="34" charset="-120"/>
              </a:rPr>
              <a:t>ML &amp; Forecasting</a:t>
            </a:r>
            <a:endParaRPr lang="en-US" sz="1150" dirty="0"/>
          </a:p>
        </p:txBody>
      </p:sp>
      <p:sp>
        <p:nvSpPr>
          <p:cNvPr id="29" name="Text 27"/>
          <p:cNvSpPr/>
          <p:nvPr/>
        </p:nvSpPr>
        <p:spPr>
          <a:xfrm>
            <a:off x="804672" y="3877056"/>
            <a:ext cx="3840480" cy="40233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Trained Random Forest Regressor; extracted feature importances; resampled to monthly frequency for trend plotting.</a:t>
            </a:r>
            <a:endParaRPr lang="en-US" sz="950" dirty="0"/>
          </a:p>
        </p:txBody>
      </p:sp>
      <p:sp>
        <p:nvSpPr>
          <p:cNvPr id="30" name="Shape 28"/>
          <p:cNvSpPr/>
          <p:nvPr/>
        </p:nvSpPr>
        <p:spPr>
          <a:xfrm>
            <a:off x="493776" y="4078224"/>
            <a:ext cx="36576" cy="256032"/>
          </a:xfrm>
          <a:prstGeom prst="rect">
            <a:avLst/>
          </a:prstGeom>
          <a:solidFill>
            <a:srgbClr val="CBD5E1"/>
          </a:solidFill>
          <a:ln/>
        </p:spPr>
        <p:txBody>
          <a:bodyPr/>
          <a:lstStyle/>
          <a:p>
            <a:endParaRPr lang="en-US"/>
          </a:p>
        </p:txBody>
      </p:sp>
      <p:sp>
        <p:nvSpPr>
          <p:cNvPr id="31" name="Shape 29"/>
          <p:cNvSpPr/>
          <p:nvPr/>
        </p:nvSpPr>
        <p:spPr>
          <a:xfrm>
            <a:off x="320040" y="4352544"/>
            <a:ext cx="402336" cy="402336"/>
          </a:xfrm>
          <a:prstGeom prst="ellipse">
            <a:avLst/>
          </a:prstGeom>
          <a:solidFill>
            <a:srgbClr val="0D3580"/>
          </a:solidFill>
          <a:ln/>
        </p:spPr>
        <p:txBody>
          <a:bodyPr/>
          <a:lstStyle/>
          <a:p>
            <a:endParaRPr lang="en-US"/>
          </a:p>
        </p:txBody>
      </p:sp>
      <p:sp>
        <p:nvSpPr>
          <p:cNvPr id="32" name="Text 30"/>
          <p:cNvSpPr/>
          <p:nvPr/>
        </p:nvSpPr>
        <p:spPr>
          <a:xfrm>
            <a:off x="320040" y="4352544"/>
            <a:ext cx="402336" cy="402336"/>
          </a:xfrm>
          <a:prstGeom prst="rect">
            <a:avLst/>
          </a:prstGeom>
          <a:noFill/>
          <a:ln/>
        </p:spPr>
        <p:txBody>
          <a:bodyPr wrap="square" lIns="0" tIns="0" rIns="0" bIns="0" rtlCol="0" anchor="ctr"/>
          <a:lstStyle/>
          <a:p>
            <a:pPr marL="0" indent="0" algn="ctr">
              <a:buNone/>
            </a:pPr>
            <a:r>
              <a:rPr lang="en-US" sz="1400" b="1" dirty="0">
                <a:solidFill>
                  <a:srgbClr val="FFC220"/>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804672" y="4315968"/>
            <a:ext cx="3657600" cy="237744"/>
          </a:xfrm>
          <a:prstGeom prst="rect">
            <a:avLst/>
          </a:prstGeom>
          <a:noFill/>
          <a:ln/>
        </p:spPr>
        <p:txBody>
          <a:bodyPr wrap="square" lIns="0" tIns="0" rIns="0" bIns="0" rtlCol="0" anchor="ctr"/>
          <a:lstStyle/>
          <a:p>
            <a:pPr marL="0" indent="0">
              <a:buNone/>
            </a:pPr>
            <a:r>
              <a:rPr lang="en-US" sz="1150" b="1" dirty="0">
                <a:solidFill>
                  <a:srgbClr val="0D3580"/>
                </a:solidFill>
                <a:latin typeface="Calibri" pitchFamily="34" charset="0"/>
                <a:ea typeface="Calibri" pitchFamily="34" charset="-122"/>
                <a:cs typeface="Calibri" pitchFamily="34" charset="-120"/>
              </a:rPr>
              <a:t>Power BI Dashboard</a:t>
            </a:r>
            <a:endParaRPr lang="en-US" sz="1150" dirty="0"/>
          </a:p>
        </p:txBody>
      </p:sp>
      <p:sp>
        <p:nvSpPr>
          <p:cNvPr id="34" name="Text 32"/>
          <p:cNvSpPr/>
          <p:nvPr/>
        </p:nvSpPr>
        <p:spPr>
          <a:xfrm>
            <a:off x="804672" y="4553712"/>
            <a:ext cx="3840480" cy="40233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Exported cleaned_walmart.csv; built interactive visuals: word cloud, key influencers, regional profit bars.</a:t>
            </a:r>
            <a:endParaRPr lang="en-US" sz="950" dirty="0"/>
          </a:p>
        </p:txBody>
      </p:sp>
      <p:sp>
        <p:nvSpPr>
          <p:cNvPr id="35" name="Text 33"/>
          <p:cNvSpPr/>
          <p:nvPr/>
        </p:nvSpPr>
        <p:spPr>
          <a:xfrm>
            <a:off x="4800600" y="914400"/>
            <a:ext cx="4023360" cy="274320"/>
          </a:xfrm>
          <a:prstGeom prst="rect">
            <a:avLst/>
          </a:prstGeom>
          <a:noFill/>
          <a:ln/>
        </p:spPr>
        <p:txBody>
          <a:bodyPr wrap="square"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Python Code: EDA &amp; Cleaning</a:t>
            </a:r>
            <a:endParaRPr lang="en-US" sz="1100" dirty="0"/>
          </a:p>
        </p:txBody>
      </p:sp>
      <p:pic>
        <p:nvPicPr>
          <p:cNvPr id="36" name="Image 0" descr="/mnt/user-data/uploads/code1.png"/>
          <p:cNvPicPr>
            <a:picLocks noChangeAspect="1"/>
          </p:cNvPicPr>
          <p:nvPr/>
        </p:nvPicPr>
        <p:blipFill>
          <a:blip r:embed="rId3"/>
          <a:stretch>
            <a:fillRect/>
          </a:stretch>
        </p:blipFill>
        <p:spPr>
          <a:xfrm>
            <a:off x="4800600" y="1188720"/>
            <a:ext cx="4023360" cy="1691640"/>
          </a:xfrm>
          <a:prstGeom prst="rect">
            <a:avLst/>
          </a:prstGeom>
        </p:spPr>
      </p:pic>
      <p:sp>
        <p:nvSpPr>
          <p:cNvPr id="37" name="Text 34"/>
          <p:cNvSpPr/>
          <p:nvPr/>
        </p:nvSpPr>
        <p:spPr>
          <a:xfrm>
            <a:off x="4800600" y="2944368"/>
            <a:ext cx="4023360" cy="274320"/>
          </a:xfrm>
          <a:prstGeom prst="rect">
            <a:avLst/>
          </a:prstGeom>
          <a:noFill/>
          <a:ln/>
        </p:spPr>
        <p:txBody>
          <a:bodyPr wrap="square"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Python Code: Cleaning &amp; Time Series</a:t>
            </a:r>
            <a:endParaRPr lang="en-US" sz="1100" dirty="0"/>
          </a:p>
        </p:txBody>
      </p:sp>
      <p:pic>
        <p:nvPicPr>
          <p:cNvPr id="38" name="Image 1" descr="/mnt/user-data/uploads/code2.png"/>
          <p:cNvPicPr>
            <a:picLocks noChangeAspect="1"/>
          </p:cNvPicPr>
          <p:nvPr/>
        </p:nvPicPr>
        <p:blipFill>
          <a:blip r:embed="rId4"/>
          <a:stretch>
            <a:fillRect/>
          </a:stretch>
        </p:blipFill>
        <p:spPr>
          <a:xfrm>
            <a:off x="4800600" y="3218688"/>
            <a:ext cx="4023360" cy="1691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3580"/>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FC220"/>
          </a:solidFill>
          <a:ln/>
        </p:spPr>
        <p:txBody>
          <a:bodyPr/>
          <a:lstStyle/>
          <a:p>
            <a:endParaRPr lang="en-US"/>
          </a:p>
        </p:txBody>
      </p:sp>
      <p:sp>
        <p:nvSpPr>
          <p:cNvPr id="3" name="Text 1"/>
          <p:cNvSpPr/>
          <p:nvPr/>
        </p:nvSpPr>
        <p:spPr>
          <a:xfrm>
            <a:off x="457200" y="1463040"/>
            <a:ext cx="8229600" cy="411480"/>
          </a:xfrm>
          <a:prstGeom prst="rect">
            <a:avLst/>
          </a:prstGeom>
          <a:noFill/>
          <a:ln/>
        </p:spPr>
        <p:txBody>
          <a:bodyPr wrap="square" rtlCol="0" anchor="ctr"/>
          <a:lstStyle/>
          <a:p>
            <a:pPr marL="0" indent="0" algn="l">
              <a:buNone/>
            </a:pPr>
            <a:r>
              <a:rPr lang="en-US" sz="1300" b="1" kern="0" spc="500" dirty="0">
                <a:solidFill>
                  <a:srgbClr val="FFC220"/>
                </a:solidFill>
                <a:latin typeface="Calibri" pitchFamily="34" charset="0"/>
                <a:ea typeface="Calibri" pitchFamily="34" charset="-122"/>
                <a:cs typeface="Calibri" pitchFamily="34" charset="-120"/>
              </a:rPr>
              <a:t>SECTION 01</a:t>
            </a:r>
            <a:endParaRPr lang="en-US" sz="1300" dirty="0"/>
          </a:p>
        </p:txBody>
      </p:sp>
      <p:sp>
        <p:nvSpPr>
          <p:cNvPr id="4" name="Text 2"/>
          <p:cNvSpPr/>
          <p:nvPr/>
        </p:nvSpPr>
        <p:spPr>
          <a:xfrm>
            <a:off x="457200" y="1874520"/>
            <a:ext cx="8229600" cy="1097280"/>
          </a:xfrm>
          <a:prstGeom prst="rect">
            <a:avLst/>
          </a:prstGeom>
          <a:noFill/>
          <a:ln/>
        </p:spPr>
        <p:txBody>
          <a:bodyPr wrap="square"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Product Category</a:t>
            </a:r>
            <a:endParaRPr lang="en-US" sz="3800" dirty="0"/>
          </a:p>
          <a:p>
            <a:pPr marL="0" indent="0" algn="l">
              <a:buNone/>
            </a:pPr>
            <a:r>
              <a:rPr lang="en-US" sz="3800" b="1" dirty="0">
                <a:solidFill>
                  <a:srgbClr val="FFFFFF"/>
                </a:solidFill>
                <a:latin typeface="Calibri" pitchFamily="34" charset="0"/>
                <a:ea typeface="Calibri" pitchFamily="34" charset="-122"/>
                <a:cs typeface="Calibri" pitchFamily="34" charset="-120"/>
              </a:rPr>
              <a:t>Analysis</a:t>
            </a:r>
            <a:endParaRPr lang="en-US" sz="3800" dirty="0"/>
          </a:p>
        </p:txBody>
      </p:sp>
      <p:sp>
        <p:nvSpPr>
          <p:cNvPr id="5" name="Text 3"/>
          <p:cNvSpPr/>
          <p:nvPr/>
        </p:nvSpPr>
        <p:spPr>
          <a:xfrm>
            <a:off x="457200" y="2971800"/>
            <a:ext cx="7315200" cy="685800"/>
          </a:xfrm>
          <a:prstGeom prst="rect">
            <a:avLst/>
          </a:prstGeom>
          <a:noFill/>
          <a:ln/>
        </p:spPr>
        <p:txBody>
          <a:bodyPr wrap="square" rtlCol="0" anchor="ctr"/>
          <a:lstStyle/>
          <a:p>
            <a:pPr marL="0" indent="0" algn="l">
              <a:buNone/>
            </a:pPr>
            <a:r>
              <a:rPr lang="en-US" sz="1600" i="1" dirty="0">
                <a:solidFill>
                  <a:srgbClr val="AABDE0"/>
                </a:solidFill>
                <a:latin typeface="Calibri" pitchFamily="34" charset="0"/>
                <a:ea typeface="Calibri" pitchFamily="34" charset="-122"/>
                <a:cs typeface="Calibri" pitchFamily="34" charset="-120"/>
              </a:rPr>
              <a:t>Uncovering which categories and sub-categories generate the highest revenue — and which consistently underperform.</a:t>
            </a:r>
            <a:endParaRPr lang="en-US" sz="1600" dirty="0"/>
          </a:p>
        </p:txBody>
      </p:sp>
      <p:sp>
        <p:nvSpPr>
          <p:cNvPr id="6" name="Shape 4"/>
          <p:cNvSpPr/>
          <p:nvPr/>
        </p:nvSpPr>
        <p:spPr>
          <a:xfrm>
            <a:off x="7498080" y="731520"/>
            <a:ext cx="2194560" cy="2194560"/>
          </a:xfrm>
          <a:prstGeom prst="ellipse">
            <a:avLst/>
          </a:prstGeom>
          <a:solidFill>
            <a:srgbClr val="0D7AB5">
              <a:alpha val="25000"/>
            </a:srgbClr>
          </a:solidFill>
          <a:ln/>
        </p:spPr>
        <p:txBody>
          <a:bodyPr/>
          <a:lstStyle/>
          <a:p>
            <a:endParaRPr lang="en-US"/>
          </a:p>
        </p:txBody>
      </p:sp>
      <p:sp>
        <p:nvSpPr>
          <p:cNvPr id="7" name="Shape 5"/>
          <p:cNvSpPr/>
          <p:nvPr/>
        </p:nvSpPr>
        <p:spPr>
          <a:xfrm>
            <a:off x="7863840" y="1097280"/>
            <a:ext cx="1463040" cy="1463040"/>
          </a:xfrm>
          <a:prstGeom prst="ellipse">
            <a:avLst/>
          </a:prstGeom>
          <a:solidFill>
            <a:srgbClr val="FFC220">
              <a:alpha val="40000"/>
            </a:srgbClr>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Highest Sales by Product Category</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7 / 20</a:t>
            </a:r>
            <a:endParaRPr lang="en-US" sz="1100" dirty="0"/>
          </a:p>
        </p:txBody>
      </p:sp>
      <p:sp>
        <p:nvSpPr>
          <p:cNvPr id="6" name="Shape 4"/>
          <p:cNvSpPr/>
          <p:nvPr/>
        </p:nvSpPr>
        <p:spPr>
          <a:xfrm>
            <a:off x="320040" y="960120"/>
            <a:ext cx="2697480" cy="10515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20040" y="960120"/>
            <a:ext cx="2697480" cy="54864"/>
          </a:xfrm>
          <a:prstGeom prst="rect">
            <a:avLst/>
          </a:prstGeom>
          <a:solidFill>
            <a:srgbClr val="0D7AB5"/>
          </a:solidFill>
          <a:ln/>
        </p:spPr>
        <p:txBody>
          <a:bodyPr/>
          <a:lstStyle/>
          <a:p>
            <a:endParaRPr lang="en-US"/>
          </a:p>
        </p:txBody>
      </p:sp>
      <p:sp>
        <p:nvSpPr>
          <p:cNvPr id="8" name="Text 6"/>
          <p:cNvSpPr/>
          <p:nvPr/>
        </p:nvSpPr>
        <p:spPr>
          <a:xfrm>
            <a:off x="429768" y="1051560"/>
            <a:ext cx="2468880" cy="256032"/>
          </a:xfrm>
          <a:prstGeom prst="rect">
            <a:avLst/>
          </a:prstGeom>
          <a:noFill/>
          <a:ln/>
        </p:spPr>
        <p:txBody>
          <a:bodyPr wrap="square" lIns="0" tIns="0" rIns="0" bIns="0" rtlCol="0" anchor="ctr"/>
          <a:lstStyle/>
          <a:p>
            <a:pPr marL="0" indent="0">
              <a:buNone/>
            </a:pPr>
            <a:r>
              <a:rPr lang="en-US" sz="1300" b="1" dirty="0">
                <a:solidFill>
                  <a:srgbClr val="0D7AB5"/>
                </a:solidFill>
                <a:latin typeface="Calibri" pitchFamily="34" charset="0"/>
                <a:ea typeface="Calibri" pitchFamily="34" charset="-122"/>
                <a:cs typeface="Calibri" pitchFamily="34" charset="-120"/>
              </a:rPr>
              <a:t>Technology</a:t>
            </a:r>
            <a:endParaRPr lang="en-US" sz="1300" dirty="0"/>
          </a:p>
        </p:txBody>
      </p:sp>
      <p:sp>
        <p:nvSpPr>
          <p:cNvPr id="9" name="Text 7"/>
          <p:cNvSpPr/>
          <p:nvPr/>
        </p:nvSpPr>
        <p:spPr>
          <a:xfrm>
            <a:off x="429768" y="1307592"/>
            <a:ext cx="2468880" cy="329184"/>
          </a:xfrm>
          <a:prstGeom prst="rect">
            <a:avLst/>
          </a:prstGeom>
          <a:noFill/>
          <a:ln/>
        </p:spPr>
        <p:txBody>
          <a:bodyPr wrap="square" lIns="0" tIns="0" rIns="0" bIns="0" rtlCol="0" anchor="ctr"/>
          <a:lstStyle/>
          <a:p>
            <a:pPr marL="0" indent="0">
              <a:buNone/>
            </a:pPr>
            <a:r>
              <a:rPr lang="en-US" sz="2200" b="1" dirty="0">
                <a:solidFill>
                  <a:srgbClr val="0D3580"/>
                </a:solidFill>
                <a:latin typeface="Calibri" pitchFamily="34" charset="0"/>
                <a:ea typeface="Calibri" pitchFamily="34" charset="-122"/>
                <a:cs typeface="Calibri" pitchFamily="34" charset="-120"/>
              </a:rPr>
              <a:t>$836K+</a:t>
            </a:r>
            <a:endParaRPr lang="en-US" sz="2200" dirty="0"/>
          </a:p>
        </p:txBody>
      </p:sp>
      <p:sp>
        <p:nvSpPr>
          <p:cNvPr id="10" name="Text 8"/>
          <p:cNvSpPr/>
          <p:nvPr/>
        </p:nvSpPr>
        <p:spPr>
          <a:xfrm>
            <a:off x="429768" y="1655064"/>
            <a:ext cx="246888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Highest revenue category — driven by Phones &amp; Machines</a:t>
            </a:r>
            <a:endParaRPr lang="en-US" sz="900" dirty="0"/>
          </a:p>
        </p:txBody>
      </p:sp>
      <p:sp>
        <p:nvSpPr>
          <p:cNvPr id="11" name="Shape 9"/>
          <p:cNvSpPr/>
          <p:nvPr/>
        </p:nvSpPr>
        <p:spPr>
          <a:xfrm>
            <a:off x="3200400" y="960120"/>
            <a:ext cx="2697480" cy="10515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200400" y="960120"/>
            <a:ext cx="2697480" cy="54864"/>
          </a:xfrm>
          <a:prstGeom prst="rect">
            <a:avLst/>
          </a:prstGeom>
          <a:solidFill>
            <a:srgbClr val="0D3580"/>
          </a:solidFill>
          <a:ln/>
        </p:spPr>
        <p:txBody>
          <a:bodyPr/>
          <a:lstStyle/>
          <a:p>
            <a:endParaRPr lang="en-US"/>
          </a:p>
        </p:txBody>
      </p:sp>
      <p:sp>
        <p:nvSpPr>
          <p:cNvPr id="13" name="Text 11"/>
          <p:cNvSpPr/>
          <p:nvPr/>
        </p:nvSpPr>
        <p:spPr>
          <a:xfrm>
            <a:off x="3310128" y="1051560"/>
            <a:ext cx="2468880" cy="256032"/>
          </a:xfrm>
          <a:prstGeom prst="rect">
            <a:avLst/>
          </a:prstGeom>
          <a:noFill/>
          <a:ln/>
        </p:spPr>
        <p:txBody>
          <a:bodyPr wrap="square" lIns="0" tIns="0" rIns="0" bIns="0" rtlCol="0" anchor="ctr"/>
          <a:lstStyle/>
          <a:p>
            <a:pPr marL="0" indent="0">
              <a:buNone/>
            </a:pPr>
            <a:r>
              <a:rPr lang="en-US" sz="1300" b="1" dirty="0">
                <a:solidFill>
                  <a:srgbClr val="0D3580"/>
                </a:solidFill>
                <a:latin typeface="Calibri" pitchFamily="34" charset="0"/>
                <a:ea typeface="Calibri" pitchFamily="34" charset="-122"/>
                <a:cs typeface="Calibri" pitchFamily="34" charset="-120"/>
              </a:rPr>
              <a:t>Furniture</a:t>
            </a:r>
            <a:endParaRPr lang="en-US" sz="1300" dirty="0"/>
          </a:p>
        </p:txBody>
      </p:sp>
      <p:sp>
        <p:nvSpPr>
          <p:cNvPr id="14" name="Text 12"/>
          <p:cNvSpPr/>
          <p:nvPr/>
        </p:nvSpPr>
        <p:spPr>
          <a:xfrm>
            <a:off x="3310128" y="1307592"/>
            <a:ext cx="2468880" cy="329184"/>
          </a:xfrm>
          <a:prstGeom prst="rect">
            <a:avLst/>
          </a:prstGeom>
          <a:noFill/>
          <a:ln/>
        </p:spPr>
        <p:txBody>
          <a:bodyPr wrap="square" lIns="0" tIns="0" rIns="0" bIns="0" rtlCol="0" anchor="ctr"/>
          <a:lstStyle/>
          <a:p>
            <a:pPr marL="0" indent="0">
              <a:buNone/>
            </a:pPr>
            <a:r>
              <a:rPr lang="en-US" sz="2200" b="1" dirty="0">
                <a:solidFill>
                  <a:srgbClr val="0D3580"/>
                </a:solidFill>
                <a:latin typeface="Calibri" pitchFamily="34" charset="0"/>
                <a:ea typeface="Calibri" pitchFamily="34" charset="-122"/>
                <a:cs typeface="Calibri" pitchFamily="34" charset="-120"/>
              </a:rPr>
              <a:t>$742K+</a:t>
            </a:r>
            <a:endParaRPr lang="en-US" sz="2200" dirty="0"/>
          </a:p>
        </p:txBody>
      </p:sp>
      <p:sp>
        <p:nvSpPr>
          <p:cNvPr id="15" name="Text 13"/>
          <p:cNvSpPr/>
          <p:nvPr/>
        </p:nvSpPr>
        <p:spPr>
          <a:xfrm>
            <a:off x="3310128" y="1655064"/>
            <a:ext cx="246888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Second highest — Chairs lead; Tables generate losses</a:t>
            </a:r>
            <a:endParaRPr lang="en-US" sz="900" dirty="0"/>
          </a:p>
        </p:txBody>
      </p:sp>
      <p:sp>
        <p:nvSpPr>
          <p:cNvPr id="16" name="Shape 14"/>
          <p:cNvSpPr/>
          <p:nvPr/>
        </p:nvSpPr>
        <p:spPr>
          <a:xfrm>
            <a:off x="6080760" y="960120"/>
            <a:ext cx="2697480" cy="10515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6080760" y="960120"/>
            <a:ext cx="2697480" cy="54864"/>
          </a:xfrm>
          <a:prstGeom prst="rect">
            <a:avLst/>
          </a:prstGeom>
          <a:solidFill>
            <a:srgbClr val="7C3AED"/>
          </a:solidFill>
          <a:ln/>
        </p:spPr>
        <p:txBody>
          <a:bodyPr/>
          <a:lstStyle/>
          <a:p>
            <a:endParaRPr lang="en-US"/>
          </a:p>
        </p:txBody>
      </p:sp>
      <p:sp>
        <p:nvSpPr>
          <p:cNvPr id="18" name="Text 16"/>
          <p:cNvSpPr/>
          <p:nvPr/>
        </p:nvSpPr>
        <p:spPr>
          <a:xfrm>
            <a:off x="6190488" y="1051560"/>
            <a:ext cx="2468880" cy="256032"/>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Office Supplies</a:t>
            </a:r>
            <a:endParaRPr lang="en-US" sz="1300" dirty="0"/>
          </a:p>
        </p:txBody>
      </p:sp>
      <p:sp>
        <p:nvSpPr>
          <p:cNvPr id="19" name="Text 17"/>
          <p:cNvSpPr/>
          <p:nvPr/>
        </p:nvSpPr>
        <p:spPr>
          <a:xfrm>
            <a:off x="6190488" y="1307592"/>
            <a:ext cx="2468880" cy="329184"/>
          </a:xfrm>
          <a:prstGeom prst="rect">
            <a:avLst/>
          </a:prstGeom>
          <a:noFill/>
          <a:ln/>
        </p:spPr>
        <p:txBody>
          <a:bodyPr wrap="square" lIns="0" tIns="0" rIns="0" bIns="0" rtlCol="0" anchor="ctr"/>
          <a:lstStyle/>
          <a:p>
            <a:pPr marL="0" indent="0">
              <a:buNone/>
            </a:pPr>
            <a:r>
              <a:rPr lang="en-US" sz="2200" b="1" dirty="0">
                <a:solidFill>
                  <a:srgbClr val="0D3580"/>
                </a:solidFill>
                <a:latin typeface="Calibri" pitchFamily="34" charset="0"/>
                <a:ea typeface="Calibri" pitchFamily="34" charset="-122"/>
                <a:cs typeface="Calibri" pitchFamily="34" charset="-120"/>
              </a:rPr>
              <a:t>$719K+</a:t>
            </a:r>
            <a:endParaRPr lang="en-US" sz="2200" dirty="0"/>
          </a:p>
        </p:txBody>
      </p:sp>
      <p:sp>
        <p:nvSpPr>
          <p:cNvPr id="20" name="Text 18"/>
          <p:cNvSpPr/>
          <p:nvPr/>
        </p:nvSpPr>
        <p:spPr>
          <a:xfrm>
            <a:off x="6190488" y="1655064"/>
            <a:ext cx="246888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Highest volume, lowest per-unit sales value</a:t>
            </a:r>
            <a:endParaRPr lang="en-US" sz="900" dirty="0"/>
          </a:p>
        </p:txBody>
      </p:sp>
      <p:sp>
        <p:nvSpPr>
          <p:cNvPr id="21" name="Text 19"/>
          <p:cNvSpPr/>
          <p:nvPr/>
        </p:nvSpPr>
        <p:spPr>
          <a:xfrm>
            <a:off x="320040" y="2121408"/>
            <a:ext cx="8503920" cy="256032"/>
          </a:xfrm>
          <a:prstGeom prst="rect">
            <a:avLst/>
          </a:prstGeom>
          <a:noFill/>
          <a:ln/>
        </p:spPr>
        <p:txBody>
          <a:bodyPr wrap="square"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Power BI — Sum of Sales by Category (Word Cloud Visual)</a:t>
            </a:r>
            <a:endParaRPr lang="en-US" sz="1100" dirty="0"/>
          </a:p>
        </p:txBody>
      </p:sp>
      <p:pic>
        <p:nvPicPr>
          <p:cNvPr id="22" name="Image 0" descr="/mnt/user-data/uploads/WhatsApp_Image_2026-04-29_at_2_36_48_AM.jpeg"/>
          <p:cNvPicPr>
            <a:picLocks noChangeAspect="1"/>
          </p:cNvPicPr>
          <p:nvPr/>
        </p:nvPicPr>
        <p:blipFill>
          <a:blip r:embed="rId3"/>
          <a:stretch>
            <a:fillRect/>
          </a:stretch>
        </p:blipFill>
        <p:spPr>
          <a:xfrm>
            <a:off x="320040" y="2395728"/>
            <a:ext cx="5029200" cy="2560320"/>
          </a:xfrm>
          <a:prstGeom prst="rect">
            <a:avLst/>
          </a:prstGeom>
        </p:spPr>
      </p:pic>
      <p:graphicFrame>
        <p:nvGraphicFramePr>
          <p:cNvPr id="23" name="Chart 0"/>
          <p:cNvGraphicFramePr/>
          <p:nvPr/>
        </p:nvGraphicFramePr>
        <p:xfrm>
          <a:off x="5486400" y="2121408"/>
          <a:ext cx="3474720" cy="2560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Deep Dive: Sub-Category Insights</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8 / 20</a:t>
            </a:r>
            <a:endParaRPr lang="en-US" sz="1100" dirty="0"/>
          </a:p>
        </p:txBody>
      </p:sp>
      <p:sp>
        <p:nvSpPr>
          <p:cNvPr id="6" name="Text 4"/>
          <p:cNvSpPr/>
          <p:nvPr/>
        </p:nvSpPr>
        <p:spPr>
          <a:xfrm>
            <a:off x="320040" y="914400"/>
            <a:ext cx="4937760" cy="274320"/>
          </a:xfrm>
          <a:prstGeom prst="rect">
            <a:avLst/>
          </a:prstGeom>
          <a:noFill/>
          <a:ln/>
        </p:spPr>
        <p:txBody>
          <a:bodyPr wrap="square"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ML Feature Importance — Top Predictors of Sales (Random Forest)</a:t>
            </a:r>
            <a:endParaRPr lang="en-US" sz="1100" dirty="0"/>
          </a:p>
        </p:txBody>
      </p:sp>
      <p:pic>
        <p:nvPicPr>
          <p:cNvPr id="7" name="Image 0" descr="/mnt/user-data/uploads/feature_importance.png"/>
          <p:cNvPicPr>
            <a:picLocks noChangeAspect="1"/>
          </p:cNvPicPr>
          <p:nvPr/>
        </p:nvPicPr>
        <p:blipFill>
          <a:blip r:embed="rId3"/>
          <a:stretch>
            <a:fillRect/>
          </a:stretch>
        </p:blipFill>
        <p:spPr>
          <a:xfrm>
            <a:off x="320040" y="1207008"/>
            <a:ext cx="4937760" cy="2834640"/>
          </a:xfrm>
          <a:prstGeom prst="rect">
            <a:avLst/>
          </a:prstGeom>
        </p:spPr>
      </p:pic>
      <p:sp>
        <p:nvSpPr>
          <p:cNvPr id="8" name="Text 5"/>
          <p:cNvSpPr/>
          <p:nvPr/>
        </p:nvSpPr>
        <p:spPr>
          <a:xfrm>
            <a:off x="5440680" y="914400"/>
            <a:ext cx="3383280" cy="274320"/>
          </a:xfrm>
          <a:prstGeom prst="rect">
            <a:avLst/>
          </a:prstGeom>
          <a:noFill/>
          <a:ln/>
        </p:spPr>
        <p:txBody>
          <a:bodyPr wrap="square" rtlCol="0" anchor="ctr"/>
          <a:lstStyle/>
          <a:p>
            <a:pPr marL="0" indent="0">
              <a:buNone/>
            </a:pPr>
            <a:r>
              <a:rPr lang="en-US" sz="1300" b="1" dirty="0">
                <a:solidFill>
                  <a:srgbClr val="0D3580"/>
                </a:solidFill>
                <a:latin typeface="Calibri" pitchFamily="34" charset="0"/>
                <a:ea typeface="Calibri" pitchFamily="34" charset="-122"/>
                <a:cs typeface="Calibri" pitchFamily="34" charset="-120"/>
              </a:rPr>
              <a:t>Key Sub-Category Findings</a:t>
            </a:r>
            <a:endParaRPr lang="en-US" sz="1300" dirty="0"/>
          </a:p>
        </p:txBody>
      </p:sp>
      <p:sp>
        <p:nvSpPr>
          <p:cNvPr id="9" name="Shape 6"/>
          <p:cNvSpPr/>
          <p:nvPr/>
        </p:nvSpPr>
        <p:spPr>
          <a:xfrm>
            <a:off x="5440680" y="1234440"/>
            <a:ext cx="3383280" cy="13898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7"/>
          <p:cNvSpPr/>
          <p:nvPr/>
        </p:nvSpPr>
        <p:spPr>
          <a:xfrm>
            <a:off x="5440680" y="1234440"/>
            <a:ext cx="3383280" cy="292608"/>
          </a:xfrm>
          <a:prstGeom prst="rect">
            <a:avLst/>
          </a:prstGeom>
          <a:solidFill>
            <a:srgbClr val="1B7A3E"/>
          </a:solidFill>
          <a:ln/>
        </p:spPr>
        <p:txBody>
          <a:bodyPr/>
          <a:lstStyle/>
          <a:p>
            <a:endParaRPr lang="en-US"/>
          </a:p>
        </p:txBody>
      </p:sp>
      <p:sp>
        <p:nvSpPr>
          <p:cNvPr id="11" name="Text 8"/>
          <p:cNvSpPr/>
          <p:nvPr/>
        </p:nvSpPr>
        <p:spPr>
          <a:xfrm>
            <a:off x="5440680" y="1234440"/>
            <a:ext cx="33832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TOP PERFORMERS</a:t>
            </a:r>
            <a:endParaRPr lang="en-US" sz="1000" dirty="0"/>
          </a:p>
        </p:txBody>
      </p:sp>
      <p:sp>
        <p:nvSpPr>
          <p:cNvPr id="12" name="Text 9"/>
          <p:cNvSpPr/>
          <p:nvPr/>
        </p:nvSpPr>
        <p:spPr>
          <a:xfrm>
            <a:off x="5559552" y="1563624"/>
            <a:ext cx="3200400" cy="98755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Phones — $330K revenue, consistent margin</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Chairs — $328K, strong Consumer demand</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Storage — high volume, reliable profit</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Binders — largest SKU count, volume driver</a:t>
            </a:r>
            <a:endParaRPr lang="en-US" sz="1000" dirty="0"/>
          </a:p>
        </p:txBody>
      </p:sp>
      <p:sp>
        <p:nvSpPr>
          <p:cNvPr id="17" name="Shape 14"/>
          <p:cNvSpPr/>
          <p:nvPr/>
        </p:nvSpPr>
        <p:spPr>
          <a:xfrm>
            <a:off x="5440680" y="2743200"/>
            <a:ext cx="3383280" cy="138988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5"/>
          <p:cNvSpPr/>
          <p:nvPr/>
        </p:nvSpPr>
        <p:spPr>
          <a:xfrm>
            <a:off x="5440680" y="2743200"/>
            <a:ext cx="3383280" cy="292608"/>
          </a:xfrm>
          <a:prstGeom prst="rect">
            <a:avLst/>
          </a:prstGeom>
          <a:solidFill>
            <a:srgbClr val="C0392B"/>
          </a:solidFill>
          <a:ln/>
        </p:spPr>
        <p:txBody>
          <a:bodyPr/>
          <a:lstStyle/>
          <a:p>
            <a:endParaRPr lang="en-US"/>
          </a:p>
        </p:txBody>
      </p:sp>
      <p:sp>
        <p:nvSpPr>
          <p:cNvPr id="19" name="Text 16"/>
          <p:cNvSpPr/>
          <p:nvPr/>
        </p:nvSpPr>
        <p:spPr>
          <a:xfrm>
            <a:off x="5440680" y="2743200"/>
            <a:ext cx="33832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UNDERPERFORMERS</a:t>
            </a:r>
            <a:endParaRPr lang="en-US" sz="1000" dirty="0"/>
          </a:p>
        </p:txBody>
      </p:sp>
      <p:sp>
        <p:nvSpPr>
          <p:cNvPr id="20" name="Text 17"/>
          <p:cNvSpPr/>
          <p:nvPr/>
        </p:nvSpPr>
        <p:spPr>
          <a:xfrm>
            <a:off x="5559552" y="3072384"/>
            <a:ext cx="3200400" cy="98755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Tables — highest loss sub-category (~–$17K)</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Bookcases — negative avg. profit margin</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Supplies — low volume and low margin</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Fasteners — negligible revenue contribution</a:t>
            </a:r>
            <a:endParaRPr lang="en-US" sz="1000" dirty="0"/>
          </a:p>
        </p:txBody>
      </p:sp>
      <p:sp>
        <p:nvSpPr>
          <p:cNvPr id="25" name="Text 22"/>
          <p:cNvSpPr/>
          <p:nvPr/>
        </p:nvSpPr>
        <p:spPr>
          <a:xfrm>
            <a:off x="5440680" y="4297680"/>
            <a:ext cx="3383280" cy="548640"/>
          </a:xfrm>
          <a:prstGeom prst="rect">
            <a:avLst/>
          </a:prstGeom>
          <a:solidFill>
            <a:srgbClr val="FFF3CD"/>
          </a:solidFill>
          <a:ln/>
        </p:spPr>
        <p:txBody>
          <a:bodyPr wrap="square" rtlCol="0" anchor="ctr"/>
          <a:lstStyle/>
          <a:p>
            <a:pPr marL="0" indent="0" algn="l">
              <a:buNone/>
            </a:pPr>
            <a:r>
              <a:rPr lang="en-US" sz="1000" i="1" dirty="0">
                <a:solidFill>
                  <a:srgbClr val="0D3580"/>
                </a:solidFill>
                <a:latin typeface="Calibri" pitchFamily="34" charset="0"/>
                <a:ea typeface="Calibri" pitchFamily="34" charset="-122"/>
                <a:cs typeface="Calibri" pitchFamily="34" charset="-120"/>
              </a:rPr>
              <a:t>💡  Sub-Category is the #1 predictor of sales (41% importance) — more than Quantity or Category alone.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3580"/>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FC220"/>
          </a:solidFill>
          <a:ln/>
        </p:spPr>
        <p:txBody>
          <a:bodyPr/>
          <a:lstStyle/>
          <a:p>
            <a:endParaRPr lang="en-US"/>
          </a:p>
        </p:txBody>
      </p:sp>
      <p:sp>
        <p:nvSpPr>
          <p:cNvPr id="3" name="Text 1"/>
          <p:cNvSpPr/>
          <p:nvPr/>
        </p:nvSpPr>
        <p:spPr>
          <a:xfrm>
            <a:off x="457200" y="1463040"/>
            <a:ext cx="8229600" cy="411480"/>
          </a:xfrm>
          <a:prstGeom prst="rect">
            <a:avLst/>
          </a:prstGeom>
          <a:noFill/>
          <a:ln/>
        </p:spPr>
        <p:txBody>
          <a:bodyPr wrap="square" rtlCol="0" anchor="ctr"/>
          <a:lstStyle/>
          <a:p>
            <a:pPr marL="0" indent="0" algn="l">
              <a:buNone/>
            </a:pPr>
            <a:r>
              <a:rPr lang="en-US" sz="1300" b="1" kern="0" spc="500" dirty="0">
                <a:solidFill>
                  <a:srgbClr val="FFC220"/>
                </a:solidFill>
                <a:latin typeface="Calibri" pitchFamily="34" charset="0"/>
                <a:ea typeface="Calibri" pitchFamily="34" charset="-122"/>
                <a:cs typeface="Calibri" pitchFamily="34" charset="-120"/>
              </a:rPr>
              <a:t>SECTION 02</a:t>
            </a:r>
            <a:endParaRPr lang="en-US" sz="1300" dirty="0"/>
          </a:p>
        </p:txBody>
      </p:sp>
      <p:sp>
        <p:nvSpPr>
          <p:cNvPr id="4" name="Text 2"/>
          <p:cNvSpPr/>
          <p:nvPr/>
        </p:nvSpPr>
        <p:spPr>
          <a:xfrm>
            <a:off x="457200" y="1874520"/>
            <a:ext cx="8229600" cy="1097280"/>
          </a:xfrm>
          <a:prstGeom prst="rect">
            <a:avLst/>
          </a:prstGeom>
          <a:noFill/>
          <a:ln/>
        </p:spPr>
        <p:txBody>
          <a:bodyPr wrap="square"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Customer Segment</a:t>
            </a:r>
            <a:endParaRPr lang="en-US" sz="3800" dirty="0"/>
          </a:p>
          <a:p>
            <a:pPr marL="0" indent="0" algn="l">
              <a:buNone/>
            </a:pPr>
            <a:r>
              <a:rPr lang="en-US" sz="3800" b="1" dirty="0">
                <a:solidFill>
                  <a:srgbClr val="FFFFFF"/>
                </a:solidFill>
                <a:latin typeface="Calibri" pitchFamily="34" charset="0"/>
                <a:ea typeface="Calibri" pitchFamily="34" charset="-122"/>
                <a:cs typeface="Calibri" pitchFamily="34" charset="-120"/>
              </a:rPr>
              <a:t>Insights</a:t>
            </a:r>
            <a:endParaRPr lang="en-US" sz="3800" dirty="0"/>
          </a:p>
        </p:txBody>
      </p:sp>
      <p:sp>
        <p:nvSpPr>
          <p:cNvPr id="5" name="Text 3"/>
          <p:cNvSpPr/>
          <p:nvPr/>
        </p:nvSpPr>
        <p:spPr>
          <a:xfrm>
            <a:off x="457200" y="2971800"/>
            <a:ext cx="7315200" cy="685800"/>
          </a:xfrm>
          <a:prstGeom prst="rect">
            <a:avLst/>
          </a:prstGeom>
          <a:noFill/>
          <a:ln/>
        </p:spPr>
        <p:txBody>
          <a:bodyPr wrap="square" rtlCol="0" anchor="ctr"/>
          <a:lstStyle/>
          <a:p>
            <a:pPr marL="0" indent="0" algn="l">
              <a:buNone/>
            </a:pPr>
            <a:r>
              <a:rPr lang="en-US" sz="1600" i="1" dirty="0">
                <a:solidFill>
                  <a:srgbClr val="AABDE0"/>
                </a:solidFill>
                <a:latin typeface="Calibri" pitchFamily="34" charset="0"/>
                <a:ea typeface="Calibri" pitchFamily="34" charset="-122"/>
                <a:cs typeface="Calibri" pitchFamily="34" charset="-120"/>
              </a:rPr>
              <a:t>Understanding Consumer, Corporate, and Home Office buying patterns to maximize customer lifetime value.</a:t>
            </a:r>
            <a:endParaRPr lang="en-US" sz="1600" dirty="0"/>
          </a:p>
        </p:txBody>
      </p:sp>
      <p:sp>
        <p:nvSpPr>
          <p:cNvPr id="6" name="Shape 4"/>
          <p:cNvSpPr/>
          <p:nvPr/>
        </p:nvSpPr>
        <p:spPr>
          <a:xfrm>
            <a:off x="7498080" y="731520"/>
            <a:ext cx="2194560" cy="2194560"/>
          </a:xfrm>
          <a:prstGeom prst="ellipse">
            <a:avLst/>
          </a:prstGeom>
          <a:solidFill>
            <a:srgbClr val="0D7AB5">
              <a:alpha val="25000"/>
            </a:srgbClr>
          </a:solidFill>
          <a:ln/>
        </p:spPr>
        <p:txBody>
          <a:bodyPr/>
          <a:lstStyle/>
          <a:p>
            <a:endParaRPr lang="en-US"/>
          </a:p>
        </p:txBody>
      </p:sp>
      <p:sp>
        <p:nvSpPr>
          <p:cNvPr id="7" name="Shape 5"/>
          <p:cNvSpPr/>
          <p:nvPr/>
        </p:nvSpPr>
        <p:spPr>
          <a:xfrm>
            <a:off x="7863840" y="1097280"/>
            <a:ext cx="1463040" cy="1463040"/>
          </a:xfrm>
          <a:prstGeom prst="ellipse">
            <a:avLst/>
          </a:prstGeom>
          <a:solidFill>
            <a:srgbClr val="FFC220">
              <a:alpha val="40000"/>
            </a:srgbClr>
          </a:solidFill>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Customer Segment Sales Contribution</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10 / 20</a:t>
            </a:r>
            <a:endParaRPr lang="en-US" sz="1100" dirty="0"/>
          </a:p>
        </p:txBody>
      </p:sp>
      <p:sp>
        <p:nvSpPr>
          <p:cNvPr id="6" name="Shape 4"/>
          <p:cNvSpPr/>
          <p:nvPr/>
        </p:nvSpPr>
        <p:spPr>
          <a:xfrm>
            <a:off x="320040" y="960120"/>
            <a:ext cx="2697480" cy="12984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20040" y="960120"/>
            <a:ext cx="64008" cy="1298448"/>
          </a:xfrm>
          <a:prstGeom prst="rect">
            <a:avLst/>
          </a:prstGeom>
          <a:solidFill>
            <a:srgbClr val="0D7AB5"/>
          </a:solidFill>
          <a:ln/>
        </p:spPr>
        <p:txBody>
          <a:bodyPr/>
          <a:lstStyle/>
          <a:p>
            <a:endParaRPr lang="en-US"/>
          </a:p>
        </p:txBody>
      </p:sp>
      <p:sp>
        <p:nvSpPr>
          <p:cNvPr id="8" name="Text 6"/>
          <p:cNvSpPr/>
          <p:nvPr/>
        </p:nvSpPr>
        <p:spPr>
          <a:xfrm>
            <a:off x="484632" y="1005840"/>
            <a:ext cx="2468880" cy="256032"/>
          </a:xfrm>
          <a:prstGeom prst="rect">
            <a:avLst/>
          </a:prstGeom>
          <a:noFill/>
          <a:ln/>
        </p:spPr>
        <p:txBody>
          <a:bodyPr wrap="square" lIns="0" tIns="0" rIns="0" bIns="0" rtlCol="0" anchor="ctr"/>
          <a:lstStyle/>
          <a:p>
            <a:pPr marL="0" indent="0">
              <a:buNone/>
            </a:pPr>
            <a:r>
              <a:rPr lang="en-US" sz="1400" b="1" dirty="0">
                <a:solidFill>
                  <a:srgbClr val="0D7AB5"/>
                </a:solidFill>
                <a:latin typeface="Calibri" pitchFamily="34" charset="0"/>
                <a:ea typeface="Calibri" pitchFamily="34" charset="-122"/>
                <a:cs typeface="Calibri" pitchFamily="34" charset="-120"/>
              </a:rPr>
              <a:t>Consumer</a:t>
            </a:r>
            <a:endParaRPr lang="en-US" sz="1400" dirty="0"/>
          </a:p>
        </p:txBody>
      </p:sp>
      <p:sp>
        <p:nvSpPr>
          <p:cNvPr id="9" name="Text 7"/>
          <p:cNvSpPr/>
          <p:nvPr/>
        </p:nvSpPr>
        <p:spPr>
          <a:xfrm>
            <a:off x="484632" y="1261872"/>
            <a:ext cx="2468880" cy="347472"/>
          </a:xfrm>
          <a:prstGeom prst="rect">
            <a:avLst/>
          </a:prstGeom>
          <a:noFill/>
          <a:ln/>
        </p:spPr>
        <p:txBody>
          <a:bodyPr wrap="square" lIns="0" tIns="0" rIns="0" bIns="0" rtlCol="0" anchor="ctr"/>
          <a:lstStyle/>
          <a:p>
            <a:pPr marL="0" indent="0">
              <a:buNone/>
            </a:pPr>
            <a:r>
              <a:rPr lang="en-US" sz="2400" b="1" dirty="0">
                <a:solidFill>
                  <a:srgbClr val="0D3580"/>
                </a:solidFill>
                <a:latin typeface="Calibri" pitchFamily="34" charset="0"/>
                <a:ea typeface="Calibri" pitchFamily="34" charset="-122"/>
                <a:cs typeface="Calibri" pitchFamily="34" charset="-120"/>
              </a:rPr>
              <a:t>51% of Sales</a:t>
            </a:r>
            <a:endParaRPr lang="en-US" sz="2400" dirty="0"/>
          </a:p>
        </p:txBody>
      </p:sp>
      <p:sp>
        <p:nvSpPr>
          <p:cNvPr id="10" name="Text 8"/>
          <p:cNvSpPr/>
          <p:nvPr/>
        </p:nvSpPr>
        <p:spPr>
          <a:xfrm>
            <a:off x="484632" y="1609344"/>
            <a:ext cx="2468880" cy="201168"/>
          </a:xfrm>
          <a:prstGeom prst="rect">
            <a:avLst/>
          </a:prstGeom>
          <a:noFill/>
          <a:ln/>
        </p:spPr>
        <p:txBody>
          <a:bodyPr wrap="square" lIns="0" tIns="0" rIns="0" bIns="0" rtlCol="0" anchor="ctr"/>
          <a:lstStyle/>
          <a:p>
            <a:pPr marL="0" indent="0">
              <a:buNone/>
            </a:pPr>
            <a:r>
              <a:rPr lang="en-US" sz="1100" b="1" dirty="0">
                <a:solidFill>
                  <a:srgbClr val="0D7AB5"/>
                </a:solidFill>
                <a:latin typeface="Calibri" pitchFamily="34" charset="0"/>
                <a:ea typeface="Calibri" pitchFamily="34" charset="-122"/>
                <a:cs typeface="Calibri" pitchFamily="34" charset="-120"/>
              </a:rPr>
              <a:t>$1.16M Total Revenue</a:t>
            </a:r>
            <a:endParaRPr lang="en-US" sz="1100" dirty="0"/>
          </a:p>
        </p:txBody>
      </p:sp>
      <p:sp>
        <p:nvSpPr>
          <p:cNvPr id="11" name="Text 9"/>
          <p:cNvSpPr/>
          <p:nvPr/>
        </p:nvSpPr>
        <p:spPr>
          <a:xfrm>
            <a:off x="484632" y="1819656"/>
            <a:ext cx="246888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Largest segment; highest order frequency; price-sensitive</a:t>
            </a:r>
            <a:endParaRPr lang="en-US" sz="900" dirty="0"/>
          </a:p>
        </p:txBody>
      </p:sp>
      <p:sp>
        <p:nvSpPr>
          <p:cNvPr id="12" name="Shape 10"/>
          <p:cNvSpPr/>
          <p:nvPr/>
        </p:nvSpPr>
        <p:spPr>
          <a:xfrm>
            <a:off x="3200400" y="960120"/>
            <a:ext cx="2697480" cy="12984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3200400" y="960120"/>
            <a:ext cx="64008" cy="1298448"/>
          </a:xfrm>
          <a:prstGeom prst="rect">
            <a:avLst/>
          </a:prstGeom>
          <a:solidFill>
            <a:srgbClr val="0D3580"/>
          </a:solidFill>
          <a:ln/>
        </p:spPr>
        <p:txBody>
          <a:bodyPr/>
          <a:lstStyle/>
          <a:p>
            <a:endParaRPr lang="en-US"/>
          </a:p>
        </p:txBody>
      </p:sp>
      <p:sp>
        <p:nvSpPr>
          <p:cNvPr id="14" name="Text 12"/>
          <p:cNvSpPr/>
          <p:nvPr/>
        </p:nvSpPr>
        <p:spPr>
          <a:xfrm>
            <a:off x="3364992" y="1005840"/>
            <a:ext cx="2468880" cy="256032"/>
          </a:xfrm>
          <a:prstGeom prst="rect">
            <a:avLst/>
          </a:prstGeom>
          <a:noFill/>
          <a:ln/>
        </p:spPr>
        <p:txBody>
          <a:bodyPr wrap="square" lIns="0" tIns="0" rIns="0" bIns="0" rtlCol="0" anchor="ctr"/>
          <a:lstStyle/>
          <a:p>
            <a:pPr marL="0" indent="0">
              <a:buNone/>
            </a:pPr>
            <a:r>
              <a:rPr lang="en-US" sz="1400" b="1" dirty="0">
                <a:solidFill>
                  <a:srgbClr val="0D3580"/>
                </a:solidFill>
                <a:latin typeface="Calibri" pitchFamily="34" charset="0"/>
                <a:ea typeface="Calibri" pitchFamily="34" charset="-122"/>
                <a:cs typeface="Calibri" pitchFamily="34" charset="-120"/>
              </a:rPr>
              <a:t>Corporate</a:t>
            </a:r>
            <a:endParaRPr lang="en-US" sz="1400" dirty="0"/>
          </a:p>
        </p:txBody>
      </p:sp>
      <p:sp>
        <p:nvSpPr>
          <p:cNvPr id="15" name="Text 13"/>
          <p:cNvSpPr/>
          <p:nvPr/>
        </p:nvSpPr>
        <p:spPr>
          <a:xfrm>
            <a:off x="3364992" y="1261872"/>
            <a:ext cx="2468880" cy="347472"/>
          </a:xfrm>
          <a:prstGeom prst="rect">
            <a:avLst/>
          </a:prstGeom>
          <a:noFill/>
          <a:ln/>
        </p:spPr>
        <p:txBody>
          <a:bodyPr wrap="square" lIns="0" tIns="0" rIns="0" bIns="0" rtlCol="0" anchor="ctr"/>
          <a:lstStyle/>
          <a:p>
            <a:pPr marL="0" indent="0">
              <a:buNone/>
            </a:pPr>
            <a:r>
              <a:rPr lang="en-US" sz="2400" b="1" dirty="0">
                <a:solidFill>
                  <a:srgbClr val="0D3580"/>
                </a:solidFill>
                <a:latin typeface="Calibri" pitchFamily="34" charset="0"/>
                <a:ea typeface="Calibri" pitchFamily="34" charset="-122"/>
                <a:cs typeface="Calibri" pitchFamily="34" charset="-120"/>
              </a:rPr>
              <a:t>30% of Sales</a:t>
            </a:r>
            <a:endParaRPr lang="en-US" sz="2400" dirty="0"/>
          </a:p>
        </p:txBody>
      </p:sp>
      <p:sp>
        <p:nvSpPr>
          <p:cNvPr id="16" name="Text 14"/>
          <p:cNvSpPr/>
          <p:nvPr/>
        </p:nvSpPr>
        <p:spPr>
          <a:xfrm>
            <a:off x="3364992" y="1609344"/>
            <a:ext cx="2468880" cy="201168"/>
          </a:xfrm>
          <a:prstGeom prst="rect">
            <a:avLst/>
          </a:prstGeom>
          <a:noFill/>
          <a:ln/>
        </p:spPr>
        <p:txBody>
          <a:bodyPr wrap="square" lIns="0" tIns="0" rIns="0" bIns="0"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$706K Total Revenue</a:t>
            </a:r>
            <a:endParaRPr lang="en-US" sz="1100" dirty="0"/>
          </a:p>
        </p:txBody>
      </p:sp>
      <p:sp>
        <p:nvSpPr>
          <p:cNvPr id="17" name="Text 15"/>
          <p:cNvSpPr/>
          <p:nvPr/>
        </p:nvSpPr>
        <p:spPr>
          <a:xfrm>
            <a:off x="3364992" y="1819656"/>
            <a:ext cx="246888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Mid-size orders; relationship-driven; higher avg. ticket</a:t>
            </a:r>
            <a:endParaRPr lang="en-US" sz="900" dirty="0"/>
          </a:p>
        </p:txBody>
      </p:sp>
      <p:sp>
        <p:nvSpPr>
          <p:cNvPr id="18" name="Shape 16"/>
          <p:cNvSpPr/>
          <p:nvPr/>
        </p:nvSpPr>
        <p:spPr>
          <a:xfrm>
            <a:off x="6080760" y="960120"/>
            <a:ext cx="2697480" cy="129844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6080760" y="960120"/>
            <a:ext cx="64008" cy="1298448"/>
          </a:xfrm>
          <a:prstGeom prst="rect">
            <a:avLst/>
          </a:prstGeom>
          <a:solidFill>
            <a:srgbClr val="7C3AED"/>
          </a:solidFill>
          <a:ln/>
        </p:spPr>
        <p:txBody>
          <a:bodyPr/>
          <a:lstStyle/>
          <a:p>
            <a:endParaRPr lang="en-US"/>
          </a:p>
        </p:txBody>
      </p:sp>
      <p:sp>
        <p:nvSpPr>
          <p:cNvPr id="20" name="Text 18"/>
          <p:cNvSpPr/>
          <p:nvPr/>
        </p:nvSpPr>
        <p:spPr>
          <a:xfrm>
            <a:off x="6245352" y="1005840"/>
            <a:ext cx="2468880" cy="256032"/>
          </a:xfrm>
          <a:prstGeom prst="rect">
            <a:avLst/>
          </a:prstGeom>
          <a:noFill/>
          <a:ln/>
        </p:spPr>
        <p:txBody>
          <a:bodyPr wrap="square" lIns="0" tIns="0" rIns="0" bIns="0"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Home Office</a:t>
            </a:r>
            <a:endParaRPr lang="en-US" sz="1400" dirty="0"/>
          </a:p>
        </p:txBody>
      </p:sp>
      <p:sp>
        <p:nvSpPr>
          <p:cNvPr id="21" name="Text 19"/>
          <p:cNvSpPr/>
          <p:nvPr/>
        </p:nvSpPr>
        <p:spPr>
          <a:xfrm>
            <a:off x="6245352" y="1261872"/>
            <a:ext cx="2468880" cy="347472"/>
          </a:xfrm>
          <a:prstGeom prst="rect">
            <a:avLst/>
          </a:prstGeom>
          <a:noFill/>
          <a:ln/>
        </p:spPr>
        <p:txBody>
          <a:bodyPr wrap="square" lIns="0" tIns="0" rIns="0" bIns="0" rtlCol="0" anchor="ctr"/>
          <a:lstStyle/>
          <a:p>
            <a:pPr marL="0" indent="0">
              <a:buNone/>
            </a:pPr>
            <a:r>
              <a:rPr lang="en-US" sz="2400" b="1" dirty="0">
                <a:solidFill>
                  <a:srgbClr val="0D3580"/>
                </a:solidFill>
                <a:latin typeface="Calibri" pitchFamily="34" charset="0"/>
                <a:ea typeface="Calibri" pitchFamily="34" charset="-122"/>
                <a:cs typeface="Calibri" pitchFamily="34" charset="-120"/>
              </a:rPr>
              <a:t>19% of Sales</a:t>
            </a:r>
            <a:endParaRPr lang="en-US" sz="2400" dirty="0"/>
          </a:p>
        </p:txBody>
      </p:sp>
      <p:sp>
        <p:nvSpPr>
          <p:cNvPr id="22" name="Text 20"/>
          <p:cNvSpPr/>
          <p:nvPr/>
        </p:nvSpPr>
        <p:spPr>
          <a:xfrm>
            <a:off x="6245352" y="1609344"/>
            <a:ext cx="2468880" cy="201168"/>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$429K Total Revenue</a:t>
            </a:r>
            <a:endParaRPr lang="en-US" sz="1100" dirty="0"/>
          </a:p>
        </p:txBody>
      </p:sp>
      <p:sp>
        <p:nvSpPr>
          <p:cNvPr id="23" name="Text 21"/>
          <p:cNvSpPr/>
          <p:nvPr/>
        </p:nvSpPr>
        <p:spPr>
          <a:xfrm>
            <a:off x="6245352" y="1819656"/>
            <a:ext cx="2468880" cy="32004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Smallest segment; tech-forward; niche but growing</a:t>
            </a:r>
            <a:endParaRPr lang="en-US" sz="900" dirty="0"/>
          </a:p>
        </p:txBody>
      </p:sp>
      <p:graphicFrame>
        <p:nvGraphicFramePr>
          <p:cNvPr id="24" name="Chart 0"/>
          <p:cNvGraphicFramePr/>
          <p:nvPr/>
        </p:nvGraphicFramePr>
        <p:xfrm>
          <a:off x="320040" y="2377440"/>
          <a:ext cx="365760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 22"/>
          <p:cNvSpPr/>
          <p:nvPr/>
        </p:nvSpPr>
        <p:spPr>
          <a:xfrm>
            <a:off x="4160520" y="2331720"/>
            <a:ext cx="4663440" cy="274320"/>
          </a:xfrm>
          <a:prstGeom prst="rect">
            <a:avLst/>
          </a:prstGeom>
          <a:noFill/>
          <a:ln/>
        </p:spPr>
        <p:txBody>
          <a:bodyPr wrap="square"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Power BI — Sum of Profit by Month and Region</a:t>
            </a:r>
            <a:endParaRPr lang="en-US" sz="1100" dirty="0"/>
          </a:p>
        </p:txBody>
      </p:sp>
      <p:pic>
        <p:nvPicPr>
          <p:cNvPr id="26" name="Image 0" descr="/mnt/user-data/uploads/WhatsApp_Image_2026-04-29_at_2_36_47_AM.jpeg"/>
          <p:cNvPicPr>
            <a:picLocks noChangeAspect="1"/>
          </p:cNvPicPr>
          <p:nvPr/>
        </p:nvPicPr>
        <p:blipFill>
          <a:blip r:embed="rId4"/>
          <a:stretch>
            <a:fillRect/>
          </a:stretch>
        </p:blipFill>
        <p:spPr>
          <a:xfrm>
            <a:off x="4160520" y="2633472"/>
            <a:ext cx="4663440" cy="23042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Strategic Recommendations for Customer Segments</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11 / 20</a:t>
            </a:r>
            <a:endParaRPr lang="en-US" sz="1100" dirty="0"/>
          </a:p>
        </p:txBody>
      </p:sp>
      <p:sp>
        <p:nvSpPr>
          <p:cNvPr id="6" name="Shape 4"/>
          <p:cNvSpPr/>
          <p:nvPr/>
        </p:nvSpPr>
        <p:spPr>
          <a:xfrm>
            <a:off x="320040" y="960120"/>
            <a:ext cx="2697480" cy="395020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20040" y="960120"/>
            <a:ext cx="2697480" cy="402336"/>
          </a:xfrm>
          <a:prstGeom prst="rect">
            <a:avLst/>
          </a:prstGeom>
          <a:solidFill>
            <a:srgbClr val="0D7AB5"/>
          </a:solidFill>
          <a:ln/>
        </p:spPr>
        <p:txBody>
          <a:bodyPr/>
          <a:lstStyle/>
          <a:p>
            <a:endParaRPr lang="en-US"/>
          </a:p>
        </p:txBody>
      </p:sp>
      <p:sp>
        <p:nvSpPr>
          <p:cNvPr id="8" name="Text 6"/>
          <p:cNvSpPr/>
          <p:nvPr/>
        </p:nvSpPr>
        <p:spPr>
          <a:xfrm>
            <a:off x="393192" y="960120"/>
            <a:ext cx="2560320" cy="402336"/>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  Consumer</a:t>
            </a:r>
            <a:endParaRPr lang="en-US" sz="1400" dirty="0"/>
          </a:p>
        </p:txBody>
      </p:sp>
      <p:sp>
        <p:nvSpPr>
          <p:cNvPr id="9" name="Text 7"/>
          <p:cNvSpPr/>
          <p:nvPr/>
        </p:nvSpPr>
        <p:spPr>
          <a:xfrm>
            <a:off x="411480" y="1426464"/>
            <a:ext cx="2514600" cy="25603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INVEST IN</a:t>
            </a:r>
            <a:endParaRPr lang="en-US" sz="1000" dirty="0"/>
          </a:p>
        </p:txBody>
      </p:sp>
      <p:sp>
        <p:nvSpPr>
          <p:cNvPr id="10" name="Text 8"/>
          <p:cNvSpPr/>
          <p:nvPr/>
        </p:nvSpPr>
        <p:spPr>
          <a:xfrm>
            <a:off x="411480" y="1700784"/>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Deploy loyalty rewards and personalized discount coupons</a:t>
            </a:r>
            <a:endParaRPr lang="en-US" sz="950" dirty="0"/>
          </a:p>
        </p:txBody>
      </p:sp>
      <p:sp>
        <p:nvSpPr>
          <p:cNvPr id="11" name="Text 9"/>
          <p:cNvSpPr/>
          <p:nvPr/>
        </p:nvSpPr>
        <p:spPr>
          <a:xfrm>
            <a:off x="411480" y="2103120"/>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Focus marketing on back-to-school and holiday periods (Q4 spike)</a:t>
            </a:r>
            <a:endParaRPr lang="en-US" sz="950" dirty="0"/>
          </a:p>
        </p:txBody>
      </p:sp>
      <p:sp>
        <p:nvSpPr>
          <p:cNvPr id="12" name="Text 10"/>
          <p:cNvSpPr/>
          <p:nvPr/>
        </p:nvSpPr>
        <p:spPr>
          <a:xfrm>
            <a:off x="411480" y="2505456"/>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Upsell Office Supplies bundles to existing Consumer buyers</a:t>
            </a:r>
            <a:endParaRPr lang="en-US" sz="950" dirty="0"/>
          </a:p>
        </p:txBody>
      </p:sp>
      <p:sp>
        <p:nvSpPr>
          <p:cNvPr id="13" name="Text 11"/>
          <p:cNvSpPr/>
          <p:nvPr/>
        </p:nvSpPr>
        <p:spPr>
          <a:xfrm>
            <a:off x="411480" y="2962656"/>
            <a:ext cx="2514600" cy="25603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CAUTION</a:t>
            </a:r>
            <a:endParaRPr lang="en-US" sz="1000" dirty="0"/>
          </a:p>
        </p:txBody>
      </p:sp>
      <p:sp>
        <p:nvSpPr>
          <p:cNvPr id="14" name="Text 12"/>
          <p:cNvSpPr/>
          <p:nvPr/>
        </p:nvSpPr>
        <p:spPr>
          <a:xfrm>
            <a:off x="411480" y="3236976"/>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Avoid deep blanket discounts — erodes already-thin margins</a:t>
            </a:r>
            <a:endParaRPr lang="en-US" sz="950" dirty="0"/>
          </a:p>
        </p:txBody>
      </p:sp>
      <p:sp>
        <p:nvSpPr>
          <p:cNvPr id="15" name="Text 13"/>
          <p:cNvSpPr/>
          <p:nvPr/>
        </p:nvSpPr>
        <p:spPr>
          <a:xfrm>
            <a:off x="411480" y="3639312"/>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Monitor churn — Consumers are most price-elastic</a:t>
            </a:r>
            <a:endParaRPr lang="en-US" sz="950" dirty="0"/>
          </a:p>
        </p:txBody>
      </p:sp>
      <p:sp>
        <p:nvSpPr>
          <p:cNvPr id="16" name="Shape 14"/>
          <p:cNvSpPr/>
          <p:nvPr/>
        </p:nvSpPr>
        <p:spPr>
          <a:xfrm>
            <a:off x="3200400" y="960120"/>
            <a:ext cx="2697480" cy="395020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3200400" y="960120"/>
            <a:ext cx="2697480" cy="402336"/>
          </a:xfrm>
          <a:prstGeom prst="rect">
            <a:avLst/>
          </a:prstGeom>
          <a:solidFill>
            <a:srgbClr val="0D3580"/>
          </a:solidFill>
          <a:ln/>
        </p:spPr>
        <p:txBody>
          <a:bodyPr/>
          <a:lstStyle/>
          <a:p>
            <a:endParaRPr lang="en-US"/>
          </a:p>
        </p:txBody>
      </p:sp>
      <p:sp>
        <p:nvSpPr>
          <p:cNvPr id="18" name="Text 16"/>
          <p:cNvSpPr/>
          <p:nvPr/>
        </p:nvSpPr>
        <p:spPr>
          <a:xfrm>
            <a:off x="3273552" y="960120"/>
            <a:ext cx="2560320" cy="402336"/>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  Corporate</a:t>
            </a:r>
            <a:endParaRPr lang="en-US" sz="1400" dirty="0"/>
          </a:p>
        </p:txBody>
      </p:sp>
      <p:sp>
        <p:nvSpPr>
          <p:cNvPr id="19" name="Text 17"/>
          <p:cNvSpPr/>
          <p:nvPr/>
        </p:nvSpPr>
        <p:spPr>
          <a:xfrm>
            <a:off x="3291840" y="1426464"/>
            <a:ext cx="2514600" cy="25603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INVEST IN</a:t>
            </a:r>
            <a:endParaRPr lang="en-US" sz="1000" dirty="0"/>
          </a:p>
        </p:txBody>
      </p:sp>
      <p:sp>
        <p:nvSpPr>
          <p:cNvPr id="20" name="Text 18"/>
          <p:cNvSpPr/>
          <p:nvPr/>
        </p:nvSpPr>
        <p:spPr>
          <a:xfrm>
            <a:off x="3291840" y="1700784"/>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Assign dedicated B2B account managers for top 50 accounts</a:t>
            </a:r>
            <a:endParaRPr lang="en-US" sz="950" dirty="0"/>
          </a:p>
        </p:txBody>
      </p:sp>
      <p:sp>
        <p:nvSpPr>
          <p:cNvPr id="21" name="Text 19"/>
          <p:cNvSpPr/>
          <p:nvPr/>
        </p:nvSpPr>
        <p:spPr>
          <a:xfrm>
            <a:off x="3291840" y="2103120"/>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Offer volume-tiered pricing for bulk Technology orders</a:t>
            </a:r>
            <a:endParaRPr lang="en-US" sz="950" dirty="0"/>
          </a:p>
        </p:txBody>
      </p:sp>
      <p:sp>
        <p:nvSpPr>
          <p:cNvPr id="22" name="Text 20"/>
          <p:cNvSpPr/>
          <p:nvPr/>
        </p:nvSpPr>
        <p:spPr>
          <a:xfrm>
            <a:off x="3291840" y="2505456"/>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Target Technology upgrades (Phones, Laptops) in Q1 budget cycles</a:t>
            </a:r>
            <a:endParaRPr lang="en-US" sz="950" dirty="0"/>
          </a:p>
        </p:txBody>
      </p:sp>
      <p:sp>
        <p:nvSpPr>
          <p:cNvPr id="23" name="Text 21"/>
          <p:cNvSpPr/>
          <p:nvPr/>
        </p:nvSpPr>
        <p:spPr>
          <a:xfrm>
            <a:off x="3291840" y="2962656"/>
            <a:ext cx="2514600" cy="25603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CAUTION</a:t>
            </a:r>
            <a:endParaRPr lang="en-US" sz="1000" dirty="0"/>
          </a:p>
        </p:txBody>
      </p:sp>
      <p:sp>
        <p:nvSpPr>
          <p:cNvPr id="24" name="Text 22"/>
          <p:cNvSpPr/>
          <p:nvPr/>
        </p:nvSpPr>
        <p:spPr>
          <a:xfrm>
            <a:off x="3291840" y="3236976"/>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Prioritize service quality — Corporate clients are relationship-driven</a:t>
            </a:r>
            <a:endParaRPr lang="en-US" sz="950" dirty="0"/>
          </a:p>
        </p:txBody>
      </p:sp>
      <p:sp>
        <p:nvSpPr>
          <p:cNvPr id="25" name="Text 23"/>
          <p:cNvSpPr/>
          <p:nvPr/>
        </p:nvSpPr>
        <p:spPr>
          <a:xfrm>
            <a:off x="3291840" y="3639312"/>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Avoid late shipments — high Ship Mode expectations</a:t>
            </a:r>
            <a:endParaRPr lang="en-US" sz="950" dirty="0"/>
          </a:p>
        </p:txBody>
      </p:sp>
      <p:sp>
        <p:nvSpPr>
          <p:cNvPr id="26" name="Shape 24"/>
          <p:cNvSpPr/>
          <p:nvPr/>
        </p:nvSpPr>
        <p:spPr>
          <a:xfrm>
            <a:off x="6080760" y="960120"/>
            <a:ext cx="2697480" cy="395020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6080760" y="960120"/>
            <a:ext cx="2697480" cy="402336"/>
          </a:xfrm>
          <a:prstGeom prst="rect">
            <a:avLst/>
          </a:prstGeom>
          <a:solidFill>
            <a:srgbClr val="7C3AED"/>
          </a:solidFill>
          <a:ln/>
        </p:spPr>
        <p:txBody>
          <a:bodyPr/>
          <a:lstStyle/>
          <a:p>
            <a:endParaRPr lang="en-US"/>
          </a:p>
        </p:txBody>
      </p:sp>
      <p:sp>
        <p:nvSpPr>
          <p:cNvPr id="28" name="Text 26"/>
          <p:cNvSpPr/>
          <p:nvPr/>
        </p:nvSpPr>
        <p:spPr>
          <a:xfrm>
            <a:off x="6153912" y="960120"/>
            <a:ext cx="2560320" cy="402336"/>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  Home Office</a:t>
            </a:r>
            <a:endParaRPr lang="en-US" sz="1400" dirty="0"/>
          </a:p>
        </p:txBody>
      </p:sp>
      <p:sp>
        <p:nvSpPr>
          <p:cNvPr id="29" name="Text 27"/>
          <p:cNvSpPr/>
          <p:nvPr/>
        </p:nvSpPr>
        <p:spPr>
          <a:xfrm>
            <a:off x="6172200" y="1426464"/>
            <a:ext cx="2514600" cy="25603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INVEST IN</a:t>
            </a:r>
            <a:endParaRPr lang="en-US" sz="1000" dirty="0"/>
          </a:p>
        </p:txBody>
      </p:sp>
      <p:sp>
        <p:nvSpPr>
          <p:cNvPr id="30" name="Text 28"/>
          <p:cNvSpPr/>
          <p:nvPr/>
        </p:nvSpPr>
        <p:spPr>
          <a:xfrm>
            <a:off x="6172200" y="1700784"/>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Target remote-work trends: ergonomic Furniture, peripherals</a:t>
            </a:r>
            <a:endParaRPr lang="en-US" sz="950" dirty="0"/>
          </a:p>
        </p:txBody>
      </p:sp>
      <p:sp>
        <p:nvSpPr>
          <p:cNvPr id="31" name="Text 29"/>
          <p:cNvSpPr/>
          <p:nvPr/>
        </p:nvSpPr>
        <p:spPr>
          <a:xfrm>
            <a:off x="6172200" y="2103120"/>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Run digital-first campaigns on LinkedIn and niche tech sites</a:t>
            </a:r>
            <a:endParaRPr lang="en-US" sz="950" dirty="0"/>
          </a:p>
        </p:txBody>
      </p:sp>
      <p:sp>
        <p:nvSpPr>
          <p:cNvPr id="32" name="Text 30"/>
          <p:cNvSpPr/>
          <p:nvPr/>
        </p:nvSpPr>
        <p:spPr>
          <a:xfrm>
            <a:off x="6172200" y="2505456"/>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Bundle Supplies + Technology kits for home-office setup orders</a:t>
            </a:r>
            <a:endParaRPr lang="en-US" sz="950" dirty="0"/>
          </a:p>
        </p:txBody>
      </p:sp>
      <p:sp>
        <p:nvSpPr>
          <p:cNvPr id="33" name="Text 31"/>
          <p:cNvSpPr/>
          <p:nvPr/>
        </p:nvSpPr>
        <p:spPr>
          <a:xfrm>
            <a:off x="6172200" y="2962656"/>
            <a:ext cx="2514600" cy="25603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CAUTION</a:t>
            </a:r>
            <a:endParaRPr lang="en-US" sz="1000" dirty="0"/>
          </a:p>
        </p:txBody>
      </p:sp>
      <p:sp>
        <p:nvSpPr>
          <p:cNvPr id="34" name="Text 32"/>
          <p:cNvSpPr/>
          <p:nvPr/>
        </p:nvSpPr>
        <p:spPr>
          <a:xfrm>
            <a:off x="6172200" y="3236976"/>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Don't over-invest in traditional retail for this segment</a:t>
            </a:r>
            <a:endParaRPr lang="en-US" sz="950" dirty="0"/>
          </a:p>
        </p:txBody>
      </p:sp>
      <p:sp>
        <p:nvSpPr>
          <p:cNvPr id="35" name="Text 33"/>
          <p:cNvSpPr/>
          <p:nvPr/>
        </p:nvSpPr>
        <p:spPr>
          <a:xfrm>
            <a:off x="6172200" y="3639312"/>
            <a:ext cx="2514600" cy="365760"/>
          </a:xfrm>
          <a:prstGeom prst="rect">
            <a:avLst/>
          </a:prstGeom>
          <a:noFill/>
          <a:ln/>
        </p:spPr>
        <p:txBody>
          <a:bodyPr wrap="square" lIns="0" tIns="0" rIns="0" bIns="0" rtlCol="0" anchor="ctr"/>
          <a:lstStyle/>
          <a:p>
            <a:pPr marL="0" indent="0">
              <a:buNone/>
            </a:pPr>
            <a:r>
              <a:rPr lang="en-US" sz="950" dirty="0">
                <a:solidFill>
                  <a:srgbClr val="2D3748"/>
                </a:solidFill>
                <a:latin typeface="Calibri" pitchFamily="34" charset="0"/>
                <a:ea typeface="Calibri" pitchFamily="34" charset="-122"/>
                <a:cs typeface="Calibri" pitchFamily="34" charset="-120"/>
              </a:rPr>
              <a:t>• Ensure fast shipping — Home Office buyers expect Prime-like delivery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3580"/>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FC220"/>
          </a:solidFill>
          <a:ln/>
        </p:spPr>
        <p:txBody>
          <a:bodyPr/>
          <a:lstStyle/>
          <a:p>
            <a:endParaRPr lang="en-US"/>
          </a:p>
        </p:txBody>
      </p:sp>
      <p:sp>
        <p:nvSpPr>
          <p:cNvPr id="3" name="Text 1"/>
          <p:cNvSpPr/>
          <p:nvPr/>
        </p:nvSpPr>
        <p:spPr>
          <a:xfrm>
            <a:off x="457200" y="1463040"/>
            <a:ext cx="8229600" cy="411480"/>
          </a:xfrm>
          <a:prstGeom prst="rect">
            <a:avLst/>
          </a:prstGeom>
          <a:noFill/>
          <a:ln/>
        </p:spPr>
        <p:txBody>
          <a:bodyPr wrap="square" rtlCol="0" anchor="ctr"/>
          <a:lstStyle/>
          <a:p>
            <a:pPr marL="0" indent="0" algn="l">
              <a:buNone/>
            </a:pPr>
            <a:r>
              <a:rPr lang="en-US" sz="1300" b="1" kern="0" spc="500" dirty="0">
                <a:solidFill>
                  <a:srgbClr val="FFC220"/>
                </a:solidFill>
                <a:latin typeface="Calibri" pitchFamily="34" charset="0"/>
                <a:ea typeface="Calibri" pitchFamily="34" charset="-122"/>
                <a:cs typeface="Calibri" pitchFamily="34" charset="-120"/>
              </a:rPr>
              <a:t>SECTION 03</a:t>
            </a:r>
            <a:endParaRPr lang="en-US" sz="1300" dirty="0"/>
          </a:p>
        </p:txBody>
      </p:sp>
      <p:sp>
        <p:nvSpPr>
          <p:cNvPr id="4" name="Text 2"/>
          <p:cNvSpPr/>
          <p:nvPr/>
        </p:nvSpPr>
        <p:spPr>
          <a:xfrm>
            <a:off x="457200" y="1874520"/>
            <a:ext cx="8229600" cy="1097280"/>
          </a:xfrm>
          <a:prstGeom prst="rect">
            <a:avLst/>
          </a:prstGeom>
          <a:noFill/>
          <a:ln/>
        </p:spPr>
        <p:txBody>
          <a:bodyPr wrap="square"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Geographical</a:t>
            </a:r>
            <a:endParaRPr lang="en-US" sz="3800" dirty="0"/>
          </a:p>
          <a:p>
            <a:pPr marL="0" indent="0" algn="l">
              <a:buNone/>
            </a:pPr>
            <a:r>
              <a:rPr lang="en-US" sz="3800" b="1" dirty="0">
                <a:solidFill>
                  <a:srgbClr val="FFFFFF"/>
                </a:solidFill>
                <a:latin typeface="Calibri" pitchFamily="34" charset="0"/>
                <a:ea typeface="Calibri" pitchFamily="34" charset="-122"/>
                <a:cs typeface="Calibri" pitchFamily="34" charset="-120"/>
              </a:rPr>
              <a:t>Performance</a:t>
            </a:r>
            <a:endParaRPr lang="en-US" sz="3800" dirty="0"/>
          </a:p>
        </p:txBody>
      </p:sp>
      <p:sp>
        <p:nvSpPr>
          <p:cNvPr id="5" name="Text 3"/>
          <p:cNvSpPr/>
          <p:nvPr/>
        </p:nvSpPr>
        <p:spPr>
          <a:xfrm>
            <a:off x="457200" y="2971800"/>
            <a:ext cx="7315200" cy="685800"/>
          </a:xfrm>
          <a:prstGeom prst="rect">
            <a:avLst/>
          </a:prstGeom>
          <a:noFill/>
          <a:ln/>
        </p:spPr>
        <p:txBody>
          <a:bodyPr wrap="square" rtlCol="0" anchor="ctr"/>
          <a:lstStyle/>
          <a:p>
            <a:pPr marL="0" indent="0" algn="l">
              <a:buNone/>
            </a:pPr>
            <a:r>
              <a:rPr lang="en-US" sz="1600" i="1" dirty="0">
                <a:solidFill>
                  <a:srgbClr val="AABDE0"/>
                </a:solidFill>
                <a:latin typeface="Calibri" pitchFamily="34" charset="0"/>
                <a:ea typeface="Calibri" pitchFamily="34" charset="-122"/>
                <a:cs typeface="Calibri" pitchFamily="34" charset="-120"/>
              </a:rPr>
              <a:t>Mapping regional winners and underperformers to guide inventory allocation, marketing spend, and expansion strategy.</a:t>
            </a:r>
            <a:endParaRPr lang="en-US" sz="1600" dirty="0"/>
          </a:p>
        </p:txBody>
      </p:sp>
      <p:sp>
        <p:nvSpPr>
          <p:cNvPr id="6" name="Shape 4"/>
          <p:cNvSpPr/>
          <p:nvPr/>
        </p:nvSpPr>
        <p:spPr>
          <a:xfrm>
            <a:off x="7498080" y="731520"/>
            <a:ext cx="2194560" cy="2194560"/>
          </a:xfrm>
          <a:prstGeom prst="ellipse">
            <a:avLst/>
          </a:prstGeom>
          <a:solidFill>
            <a:srgbClr val="0D7AB5">
              <a:alpha val="25000"/>
            </a:srgbClr>
          </a:solidFill>
          <a:ln/>
        </p:spPr>
        <p:txBody>
          <a:bodyPr/>
          <a:lstStyle/>
          <a:p>
            <a:endParaRPr lang="en-US"/>
          </a:p>
        </p:txBody>
      </p:sp>
      <p:sp>
        <p:nvSpPr>
          <p:cNvPr id="7" name="Shape 5"/>
          <p:cNvSpPr/>
          <p:nvPr/>
        </p:nvSpPr>
        <p:spPr>
          <a:xfrm>
            <a:off x="7863840" y="1097280"/>
            <a:ext cx="1463040" cy="1463040"/>
          </a:xfrm>
          <a:prstGeom prst="ellipse">
            <a:avLst/>
          </a:prstGeom>
          <a:solidFill>
            <a:srgbClr val="FFC220">
              <a:alpha val="40000"/>
            </a:srgbClr>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Top Regions &amp; States by Sales and Profit</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13 / 20</a:t>
            </a:r>
            <a:endParaRPr lang="en-US" sz="1100" dirty="0"/>
          </a:p>
        </p:txBody>
      </p:sp>
      <p:graphicFrame>
        <p:nvGraphicFramePr>
          <p:cNvPr id="6" name="Chart 0"/>
          <p:cNvGraphicFramePr/>
          <p:nvPr/>
        </p:nvGraphicFramePr>
        <p:xfrm>
          <a:off x="320040" y="960120"/>
          <a:ext cx="475488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320040" y="3767328"/>
            <a:ext cx="4754880" cy="256032"/>
          </a:xfrm>
          <a:prstGeom prst="rect">
            <a:avLst/>
          </a:prstGeom>
          <a:noFill/>
          <a:ln/>
        </p:spPr>
        <p:txBody>
          <a:bodyPr wrap="square"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Top 5 States by Revenue</a:t>
            </a:r>
            <a:endParaRPr lang="en-US" sz="1100" dirty="0"/>
          </a:p>
        </p:txBody>
      </p:sp>
      <p:sp>
        <p:nvSpPr>
          <p:cNvPr id="8" name="Text 5"/>
          <p:cNvSpPr/>
          <p:nvPr/>
        </p:nvSpPr>
        <p:spPr>
          <a:xfrm>
            <a:off x="320040" y="4041648"/>
            <a:ext cx="4754880" cy="201168"/>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1.  California — $457K  (West)</a:t>
            </a:r>
            <a:endParaRPr lang="en-US" sz="1050" dirty="0"/>
          </a:p>
        </p:txBody>
      </p:sp>
      <p:sp>
        <p:nvSpPr>
          <p:cNvPr id="9" name="Text 6"/>
          <p:cNvSpPr/>
          <p:nvPr/>
        </p:nvSpPr>
        <p:spPr>
          <a:xfrm>
            <a:off x="320040" y="4261104"/>
            <a:ext cx="4754880" cy="201168"/>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2.  New York — $310K  (East)</a:t>
            </a:r>
            <a:endParaRPr lang="en-US" sz="1050" dirty="0"/>
          </a:p>
        </p:txBody>
      </p:sp>
      <p:sp>
        <p:nvSpPr>
          <p:cNvPr id="10" name="Text 7"/>
          <p:cNvSpPr/>
          <p:nvPr/>
        </p:nvSpPr>
        <p:spPr>
          <a:xfrm>
            <a:off x="320040" y="4480560"/>
            <a:ext cx="4754880" cy="201168"/>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3.  Texas — $171K  (South)</a:t>
            </a:r>
            <a:endParaRPr lang="en-US" sz="1050" dirty="0"/>
          </a:p>
        </p:txBody>
      </p:sp>
      <p:sp>
        <p:nvSpPr>
          <p:cNvPr id="11" name="Text 8"/>
          <p:cNvSpPr/>
          <p:nvPr/>
        </p:nvSpPr>
        <p:spPr>
          <a:xfrm>
            <a:off x="320040" y="4700016"/>
            <a:ext cx="4754880" cy="201168"/>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4.  Washington — $138K  (West)</a:t>
            </a:r>
            <a:endParaRPr lang="en-US" sz="1050" dirty="0"/>
          </a:p>
        </p:txBody>
      </p:sp>
      <p:sp>
        <p:nvSpPr>
          <p:cNvPr id="12" name="Text 9"/>
          <p:cNvSpPr/>
          <p:nvPr/>
        </p:nvSpPr>
        <p:spPr>
          <a:xfrm>
            <a:off x="320040" y="4919472"/>
            <a:ext cx="4754880" cy="201168"/>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5.  Pennsylvania — $117K  (East)</a:t>
            </a:r>
            <a:endParaRPr lang="en-US" sz="1050" dirty="0"/>
          </a:p>
        </p:txBody>
      </p:sp>
      <p:sp>
        <p:nvSpPr>
          <p:cNvPr id="13" name="Text 10"/>
          <p:cNvSpPr/>
          <p:nvPr/>
        </p:nvSpPr>
        <p:spPr>
          <a:xfrm>
            <a:off x="5212080" y="960120"/>
            <a:ext cx="3611880" cy="274320"/>
          </a:xfrm>
          <a:prstGeom prst="rect">
            <a:avLst/>
          </a:prstGeom>
          <a:noFill/>
          <a:ln/>
        </p:spPr>
        <p:txBody>
          <a:bodyPr wrap="square"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Power BI / Power Query — Data Preview (Cleaned Dataset)</a:t>
            </a:r>
            <a:endParaRPr lang="en-US" sz="1100" dirty="0"/>
          </a:p>
        </p:txBody>
      </p:sp>
      <p:pic>
        <p:nvPicPr>
          <p:cNvPr id="14" name="Image 0" descr="/mnt/user-data/uploads/WhatsApp_Image_2026-04-29_at_2_36_46_AM.jpeg"/>
          <p:cNvPicPr>
            <a:picLocks noChangeAspect="1"/>
          </p:cNvPicPr>
          <p:nvPr/>
        </p:nvPicPr>
        <p:blipFill>
          <a:blip r:embed="rId4"/>
          <a:stretch>
            <a:fillRect/>
          </a:stretch>
        </p:blipFill>
        <p:spPr>
          <a:xfrm>
            <a:off x="5212080" y="1261872"/>
            <a:ext cx="3611880" cy="2395728"/>
          </a:xfrm>
          <a:prstGeom prst="rect">
            <a:avLst/>
          </a:prstGeom>
        </p:spPr>
      </p:pic>
      <p:sp>
        <p:nvSpPr>
          <p:cNvPr id="15" name="Shape 11"/>
          <p:cNvSpPr/>
          <p:nvPr/>
        </p:nvSpPr>
        <p:spPr>
          <a:xfrm>
            <a:off x="5212080" y="3749040"/>
            <a:ext cx="3611880" cy="1143000"/>
          </a:xfrm>
          <a:prstGeom prst="rect">
            <a:avLst/>
          </a:prstGeom>
          <a:solidFill>
            <a:srgbClr val="EFF6FF"/>
          </a:solidFill>
          <a:ln w="19050">
            <a:solidFill>
              <a:srgbClr val="0D7AB5"/>
            </a:solidFill>
            <a:prstDash val="solid"/>
          </a:ln>
        </p:spPr>
        <p:txBody>
          <a:bodyPr/>
          <a:lstStyle/>
          <a:p>
            <a:endParaRPr lang="en-US"/>
          </a:p>
        </p:txBody>
      </p:sp>
      <p:sp>
        <p:nvSpPr>
          <p:cNvPr id="16" name="Text 12"/>
          <p:cNvSpPr/>
          <p:nvPr/>
        </p:nvSpPr>
        <p:spPr>
          <a:xfrm>
            <a:off x="5321808" y="3785616"/>
            <a:ext cx="3383280" cy="256032"/>
          </a:xfrm>
          <a:prstGeom prst="rect">
            <a:avLst/>
          </a:prstGeom>
          <a:noFill/>
          <a:ln/>
        </p:spPr>
        <p:txBody>
          <a:bodyPr wrap="square" lIns="0" tIns="0" rIns="0" bIns="0" rtlCol="0" anchor="ctr"/>
          <a:lstStyle/>
          <a:p>
            <a:pPr marL="0" indent="0">
              <a:buNone/>
            </a:pPr>
            <a:r>
              <a:rPr lang="en-US" sz="1100" b="1" dirty="0">
                <a:solidFill>
                  <a:srgbClr val="0D7AB5"/>
                </a:solidFill>
                <a:latin typeface="Calibri" pitchFamily="34" charset="0"/>
                <a:ea typeface="Calibri" pitchFamily="34" charset="-122"/>
                <a:cs typeface="Calibri" pitchFamily="34" charset="-120"/>
              </a:rPr>
              <a:t>📌  Regional Insight</a:t>
            </a:r>
            <a:endParaRPr lang="en-US" sz="1100" dirty="0"/>
          </a:p>
        </p:txBody>
      </p:sp>
      <p:sp>
        <p:nvSpPr>
          <p:cNvPr id="17" name="Text 13"/>
          <p:cNvSpPr/>
          <p:nvPr/>
        </p:nvSpPr>
        <p:spPr>
          <a:xfrm>
            <a:off x="5321808" y="4059936"/>
            <a:ext cx="3383280" cy="749808"/>
          </a:xfrm>
          <a:prstGeom prst="rect">
            <a:avLst/>
          </a:prstGeom>
          <a:noFill/>
          <a:ln/>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The West region alone contributes 31% of total revenue with the highest profit margin at ~15%. The Central region underperforms significantly — high sales but profit margin of only ~8%, signaling discounting pressure.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City-Level Analysis &amp; Pockets of Loss</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14 / 20</a:t>
            </a:r>
            <a:endParaRPr lang="en-US" sz="1100" dirty="0"/>
          </a:p>
        </p:txBody>
      </p:sp>
      <p:sp>
        <p:nvSpPr>
          <p:cNvPr id="6" name="Text 4"/>
          <p:cNvSpPr/>
          <p:nvPr/>
        </p:nvSpPr>
        <p:spPr>
          <a:xfrm>
            <a:off x="320040" y="914400"/>
            <a:ext cx="5029200" cy="274320"/>
          </a:xfrm>
          <a:prstGeom prst="rect">
            <a:avLst/>
          </a:prstGeom>
          <a:noFill/>
          <a:ln/>
        </p:spPr>
        <p:txBody>
          <a:bodyPr wrap="square"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Power BI — Key Influencers: What Drives Sum of Sales to Increase?</a:t>
            </a:r>
            <a:endParaRPr lang="en-US" sz="1100" dirty="0"/>
          </a:p>
        </p:txBody>
      </p:sp>
      <p:pic>
        <p:nvPicPr>
          <p:cNvPr id="7" name="Image 0" descr="/mnt/user-data/uploads/WhatsApp_Image_2026-04-29_at_2_36_49_AM__3_.jpeg"/>
          <p:cNvPicPr>
            <a:picLocks noChangeAspect="1"/>
          </p:cNvPicPr>
          <p:nvPr/>
        </p:nvPicPr>
        <p:blipFill>
          <a:blip r:embed="rId3"/>
          <a:stretch>
            <a:fillRect/>
          </a:stretch>
        </p:blipFill>
        <p:spPr>
          <a:xfrm>
            <a:off x="320040" y="1207008"/>
            <a:ext cx="5029200" cy="2743200"/>
          </a:xfrm>
          <a:prstGeom prst="rect">
            <a:avLst/>
          </a:prstGeom>
        </p:spPr>
      </p:pic>
      <p:sp>
        <p:nvSpPr>
          <p:cNvPr id="8" name="Text 5"/>
          <p:cNvSpPr/>
          <p:nvPr/>
        </p:nvSpPr>
        <p:spPr>
          <a:xfrm>
            <a:off x="5440680" y="914400"/>
            <a:ext cx="3383280" cy="274320"/>
          </a:xfrm>
          <a:prstGeom prst="rect">
            <a:avLst/>
          </a:prstGeom>
          <a:noFill/>
          <a:ln/>
        </p:spPr>
        <p:txBody>
          <a:bodyPr wrap="square" rtlCol="0" anchor="ctr"/>
          <a:lstStyle/>
          <a:p>
            <a:pPr marL="0" indent="0">
              <a:buNone/>
            </a:pPr>
            <a:r>
              <a:rPr lang="en-US" sz="1200" b="1" dirty="0">
                <a:solidFill>
                  <a:srgbClr val="1B7A3E"/>
                </a:solidFill>
                <a:latin typeface="Calibri" pitchFamily="34" charset="0"/>
                <a:ea typeface="Calibri" pitchFamily="34" charset="-122"/>
                <a:cs typeface="Calibri" pitchFamily="34" charset="-120"/>
              </a:rPr>
              <a:t>🎯  TARGET Cities</a:t>
            </a:r>
            <a:endParaRPr lang="en-US" sz="1200" dirty="0"/>
          </a:p>
        </p:txBody>
      </p:sp>
      <p:sp>
        <p:nvSpPr>
          <p:cNvPr id="9" name="Shape 6"/>
          <p:cNvSpPr/>
          <p:nvPr/>
        </p:nvSpPr>
        <p:spPr>
          <a:xfrm>
            <a:off x="5440680" y="1234440"/>
            <a:ext cx="3383280" cy="1719072"/>
          </a:xfrm>
          <a:prstGeom prst="rect">
            <a:avLst/>
          </a:prstGeom>
          <a:solidFill>
            <a:srgbClr val="FFFFFF"/>
          </a:solidFill>
          <a:ln w="19050">
            <a:solidFill>
              <a:srgbClr val="D1FAE5"/>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7"/>
          <p:cNvSpPr/>
          <p:nvPr/>
        </p:nvSpPr>
        <p:spPr>
          <a:xfrm>
            <a:off x="5440680" y="1261872"/>
            <a:ext cx="54864" cy="347472"/>
          </a:xfrm>
          <a:prstGeom prst="rect">
            <a:avLst/>
          </a:prstGeom>
          <a:solidFill>
            <a:srgbClr val="1B7A3E"/>
          </a:solidFill>
          <a:ln/>
        </p:spPr>
        <p:txBody>
          <a:bodyPr/>
          <a:lstStyle/>
          <a:p>
            <a:endParaRPr lang="en-US"/>
          </a:p>
        </p:txBody>
      </p:sp>
      <p:sp>
        <p:nvSpPr>
          <p:cNvPr id="11" name="Text 8"/>
          <p:cNvSpPr/>
          <p:nvPr/>
        </p:nvSpPr>
        <p:spPr>
          <a:xfrm>
            <a:off x="5559552" y="1261872"/>
            <a:ext cx="1828800" cy="201168"/>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New York City</a:t>
            </a:r>
            <a:endParaRPr lang="en-US" sz="1000" dirty="0"/>
          </a:p>
        </p:txBody>
      </p:sp>
      <p:sp>
        <p:nvSpPr>
          <p:cNvPr id="12" name="Text 9"/>
          <p:cNvSpPr/>
          <p:nvPr/>
        </p:nvSpPr>
        <p:spPr>
          <a:xfrm>
            <a:off x="5559552" y="1463040"/>
            <a:ext cx="3108960" cy="16459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$256K  |  +$42K profit</a:t>
            </a:r>
            <a:endParaRPr lang="en-US" sz="900" dirty="0"/>
          </a:p>
        </p:txBody>
      </p:sp>
      <p:sp>
        <p:nvSpPr>
          <p:cNvPr id="13" name="Shape 10"/>
          <p:cNvSpPr/>
          <p:nvPr/>
        </p:nvSpPr>
        <p:spPr>
          <a:xfrm>
            <a:off x="5440680" y="1673352"/>
            <a:ext cx="54864" cy="347472"/>
          </a:xfrm>
          <a:prstGeom prst="rect">
            <a:avLst/>
          </a:prstGeom>
          <a:solidFill>
            <a:srgbClr val="1B7A3E"/>
          </a:solidFill>
          <a:ln/>
        </p:spPr>
        <p:txBody>
          <a:bodyPr/>
          <a:lstStyle/>
          <a:p>
            <a:endParaRPr lang="en-US"/>
          </a:p>
        </p:txBody>
      </p:sp>
      <p:sp>
        <p:nvSpPr>
          <p:cNvPr id="14" name="Text 11"/>
          <p:cNvSpPr/>
          <p:nvPr/>
        </p:nvSpPr>
        <p:spPr>
          <a:xfrm>
            <a:off x="5559552" y="1673352"/>
            <a:ext cx="1828800" cy="201168"/>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Los Angeles</a:t>
            </a:r>
            <a:endParaRPr lang="en-US" sz="1000" dirty="0"/>
          </a:p>
        </p:txBody>
      </p:sp>
      <p:sp>
        <p:nvSpPr>
          <p:cNvPr id="15" name="Text 12"/>
          <p:cNvSpPr/>
          <p:nvPr/>
        </p:nvSpPr>
        <p:spPr>
          <a:xfrm>
            <a:off x="5559552" y="1874520"/>
            <a:ext cx="3108960" cy="16459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$176K  |  +$29K profit</a:t>
            </a:r>
            <a:endParaRPr lang="en-US" sz="900" dirty="0"/>
          </a:p>
        </p:txBody>
      </p:sp>
      <p:sp>
        <p:nvSpPr>
          <p:cNvPr id="16" name="Shape 13"/>
          <p:cNvSpPr/>
          <p:nvPr/>
        </p:nvSpPr>
        <p:spPr>
          <a:xfrm>
            <a:off x="5440680" y="2084832"/>
            <a:ext cx="54864" cy="347472"/>
          </a:xfrm>
          <a:prstGeom prst="rect">
            <a:avLst/>
          </a:prstGeom>
          <a:solidFill>
            <a:srgbClr val="1B7A3E"/>
          </a:solidFill>
          <a:ln/>
        </p:spPr>
        <p:txBody>
          <a:bodyPr/>
          <a:lstStyle/>
          <a:p>
            <a:endParaRPr lang="en-US"/>
          </a:p>
        </p:txBody>
      </p:sp>
      <p:sp>
        <p:nvSpPr>
          <p:cNvPr id="17" name="Text 14"/>
          <p:cNvSpPr/>
          <p:nvPr/>
        </p:nvSpPr>
        <p:spPr>
          <a:xfrm>
            <a:off x="5559552" y="2084832"/>
            <a:ext cx="1828800" cy="201168"/>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Seattle</a:t>
            </a:r>
            <a:endParaRPr lang="en-US" sz="1000" dirty="0"/>
          </a:p>
        </p:txBody>
      </p:sp>
      <p:sp>
        <p:nvSpPr>
          <p:cNvPr id="18" name="Text 15"/>
          <p:cNvSpPr/>
          <p:nvPr/>
        </p:nvSpPr>
        <p:spPr>
          <a:xfrm>
            <a:off x="5559552" y="2286000"/>
            <a:ext cx="3108960" cy="16459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$120K  |  +$22K profit</a:t>
            </a:r>
            <a:endParaRPr lang="en-US" sz="900" dirty="0"/>
          </a:p>
        </p:txBody>
      </p:sp>
      <p:sp>
        <p:nvSpPr>
          <p:cNvPr id="19" name="Shape 16"/>
          <p:cNvSpPr/>
          <p:nvPr/>
        </p:nvSpPr>
        <p:spPr>
          <a:xfrm>
            <a:off x="5440680" y="2496312"/>
            <a:ext cx="54864" cy="347472"/>
          </a:xfrm>
          <a:prstGeom prst="rect">
            <a:avLst/>
          </a:prstGeom>
          <a:solidFill>
            <a:srgbClr val="1B7A3E"/>
          </a:solidFill>
          <a:ln/>
        </p:spPr>
        <p:txBody>
          <a:bodyPr/>
          <a:lstStyle/>
          <a:p>
            <a:endParaRPr lang="en-US"/>
          </a:p>
        </p:txBody>
      </p:sp>
      <p:sp>
        <p:nvSpPr>
          <p:cNvPr id="20" name="Text 17"/>
          <p:cNvSpPr/>
          <p:nvPr/>
        </p:nvSpPr>
        <p:spPr>
          <a:xfrm>
            <a:off x="5559552" y="2496312"/>
            <a:ext cx="1828800" cy="201168"/>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San Francisco</a:t>
            </a:r>
            <a:endParaRPr lang="en-US" sz="1000" dirty="0"/>
          </a:p>
        </p:txBody>
      </p:sp>
      <p:sp>
        <p:nvSpPr>
          <p:cNvPr id="21" name="Text 18"/>
          <p:cNvSpPr/>
          <p:nvPr/>
        </p:nvSpPr>
        <p:spPr>
          <a:xfrm>
            <a:off x="5559552" y="2697480"/>
            <a:ext cx="3108960" cy="16459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$91K  |  +$18K profit</a:t>
            </a:r>
            <a:endParaRPr lang="en-US" sz="900" dirty="0"/>
          </a:p>
        </p:txBody>
      </p:sp>
      <p:sp>
        <p:nvSpPr>
          <p:cNvPr id="22" name="Text 19"/>
          <p:cNvSpPr/>
          <p:nvPr/>
        </p:nvSpPr>
        <p:spPr>
          <a:xfrm>
            <a:off x="5440680" y="3063240"/>
            <a:ext cx="3383280" cy="27432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AVOID / RESTRUCTURE</a:t>
            </a:r>
            <a:endParaRPr lang="en-US" sz="1200" dirty="0"/>
          </a:p>
        </p:txBody>
      </p:sp>
      <p:sp>
        <p:nvSpPr>
          <p:cNvPr id="23" name="Shape 20"/>
          <p:cNvSpPr/>
          <p:nvPr/>
        </p:nvSpPr>
        <p:spPr>
          <a:xfrm>
            <a:off x="5440680" y="3383280"/>
            <a:ext cx="3383280" cy="1261872"/>
          </a:xfrm>
          <a:prstGeom prst="rect">
            <a:avLst/>
          </a:prstGeom>
          <a:solidFill>
            <a:srgbClr val="FFFFFF"/>
          </a:solidFill>
          <a:ln w="19050">
            <a:solidFill>
              <a:srgbClr val="FEE2E2"/>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1"/>
          <p:cNvSpPr/>
          <p:nvPr/>
        </p:nvSpPr>
        <p:spPr>
          <a:xfrm>
            <a:off x="5440680" y="3410712"/>
            <a:ext cx="54864" cy="329184"/>
          </a:xfrm>
          <a:prstGeom prst="rect">
            <a:avLst/>
          </a:prstGeom>
          <a:solidFill>
            <a:srgbClr val="C0392B"/>
          </a:solidFill>
          <a:ln/>
        </p:spPr>
        <p:txBody>
          <a:bodyPr/>
          <a:lstStyle/>
          <a:p>
            <a:endParaRPr lang="en-US"/>
          </a:p>
        </p:txBody>
      </p:sp>
      <p:sp>
        <p:nvSpPr>
          <p:cNvPr id="25" name="Text 22"/>
          <p:cNvSpPr/>
          <p:nvPr/>
        </p:nvSpPr>
        <p:spPr>
          <a:xfrm>
            <a:off x="5559552" y="3410712"/>
            <a:ext cx="2011680" cy="201168"/>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Philadelphia</a:t>
            </a:r>
            <a:endParaRPr lang="en-US" sz="1000" dirty="0"/>
          </a:p>
        </p:txBody>
      </p:sp>
      <p:sp>
        <p:nvSpPr>
          <p:cNvPr id="26" name="Text 23"/>
          <p:cNvSpPr/>
          <p:nvPr/>
        </p:nvSpPr>
        <p:spPr>
          <a:xfrm>
            <a:off x="5559552" y="3611880"/>
            <a:ext cx="3108960" cy="164592"/>
          </a:xfrm>
          <a:prstGeom prst="rect">
            <a:avLst/>
          </a:prstGeom>
          <a:noFill/>
          <a:ln/>
        </p:spPr>
        <p:txBody>
          <a:bodyPr wrap="square" lIns="0" tIns="0" rIns="0" bIns="0" rtlCol="0" anchor="ctr"/>
          <a:lstStyle/>
          <a:p>
            <a:pPr marL="0" indent="0">
              <a:buNone/>
            </a:pPr>
            <a:r>
              <a:rPr lang="en-US" sz="900" dirty="0">
                <a:solidFill>
                  <a:srgbClr val="C0392B"/>
                </a:solidFill>
                <a:latin typeface="Calibri" pitchFamily="34" charset="0"/>
                <a:ea typeface="Calibri" pitchFamily="34" charset="-122"/>
                <a:cs typeface="Calibri" pitchFamily="34" charset="-120"/>
              </a:rPr>
              <a:t>$110K  |  –$13K loss</a:t>
            </a:r>
            <a:endParaRPr lang="en-US" sz="900" dirty="0"/>
          </a:p>
        </p:txBody>
      </p:sp>
      <p:sp>
        <p:nvSpPr>
          <p:cNvPr id="27" name="Shape 24"/>
          <p:cNvSpPr/>
          <p:nvPr/>
        </p:nvSpPr>
        <p:spPr>
          <a:xfrm>
            <a:off x="5440680" y="3813048"/>
            <a:ext cx="54864" cy="329184"/>
          </a:xfrm>
          <a:prstGeom prst="rect">
            <a:avLst/>
          </a:prstGeom>
          <a:solidFill>
            <a:srgbClr val="C0392B"/>
          </a:solidFill>
          <a:ln/>
        </p:spPr>
        <p:txBody>
          <a:bodyPr/>
          <a:lstStyle/>
          <a:p>
            <a:endParaRPr lang="en-US"/>
          </a:p>
        </p:txBody>
      </p:sp>
      <p:sp>
        <p:nvSpPr>
          <p:cNvPr id="28" name="Text 25"/>
          <p:cNvSpPr/>
          <p:nvPr/>
        </p:nvSpPr>
        <p:spPr>
          <a:xfrm>
            <a:off x="5559552" y="3813048"/>
            <a:ext cx="2011680" cy="201168"/>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Houston</a:t>
            </a:r>
            <a:endParaRPr lang="en-US" sz="1000" dirty="0"/>
          </a:p>
        </p:txBody>
      </p:sp>
      <p:sp>
        <p:nvSpPr>
          <p:cNvPr id="29" name="Text 26"/>
          <p:cNvSpPr/>
          <p:nvPr/>
        </p:nvSpPr>
        <p:spPr>
          <a:xfrm>
            <a:off x="5559552" y="4014216"/>
            <a:ext cx="3108960" cy="164592"/>
          </a:xfrm>
          <a:prstGeom prst="rect">
            <a:avLst/>
          </a:prstGeom>
          <a:noFill/>
          <a:ln/>
        </p:spPr>
        <p:txBody>
          <a:bodyPr wrap="square" lIns="0" tIns="0" rIns="0" bIns="0" rtlCol="0" anchor="ctr"/>
          <a:lstStyle/>
          <a:p>
            <a:pPr marL="0" indent="0">
              <a:buNone/>
            </a:pPr>
            <a:r>
              <a:rPr lang="en-US" sz="900" dirty="0">
                <a:solidFill>
                  <a:srgbClr val="C0392B"/>
                </a:solidFill>
                <a:latin typeface="Calibri" pitchFamily="34" charset="0"/>
                <a:ea typeface="Calibri" pitchFamily="34" charset="-122"/>
                <a:cs typeface="Calibri" pitchFamily="34" charset="-120"/>
              </a:rPr>
              <a:t>$64K  |  –$9K loss</a:t>
            </a:r>
            <a:endParaRPr lang="en-US" sz="900" dirty="0"/>
          </a:p>
        </p:txBody>
      </p:sp>
      <p:sp>
        <p:nvSpPr>
          <p:cNvPr id="30" name="Shape 27"/>
          <p:cNvSpPr/>
          <p:nvPr/>
        </p:nvSpPr>
        <p:spPr>
          <a:xfrm>
            <a:off x="5440680" y="4215384"/>
            <a:ext cx="54864" cy="329184"/>
          </a:xfrm>
          <a:prstGeom prst="rect">
            <a:avLst/>
          </a:prstGeom>
          <a:solidFill>
            <a:srgbClr val="C0392B"/>
          </a:solidFill>
          <a:ln/>
        </p:spPr>
        <p:txBody>
          <a:bodyPr/>
          <a:lstStyle/>
          <a:p>
            <a:endParaRPr lang="en-US"/>
          </a:p>
        </p:txBody>
      </p:sp>
      <p:sp>
        <p:nvSpPr>
          <p:cNvPr id="31" name="Text 28"/>
          <p:cNvSpPr/>
          <p:nvPr/>
        </p:nvSpPr>
        <p:spPr>
          <a:xfrm>
            <a:off x="5559552" y="4215384"/>
            <a:ext cx="2011680" cy="201168"/>
          </a:xfrm>
          <a:prstGeom prst="rect">
            <a:avLst/>
          </a:prstGeom>
          <a:noFill/>
          <a:ln/>
        </p:spPr>
        <p:txBody>
          <a:bodyPr wrap="square" lIns="0" tIns="0" rIns="0" bIns="0" rtlCol="0" anchor="ctr"/>
          <a:lstStyle/>
          <a:p>
            <a:pPr marL="0" indent="0">
              <a:buNone/>
            </a:pPr>
            <a:r>
              <a:rPr lang="en-US" sz="1000" b="1" dirty="0">
                <a:solidFill>
                  <a:srgbClr val="2D3748"/>
                </a:solidFill>
                <a:latin typeface="Calibri" pitchFamily="34" charset="0"/>
                <a:ea typeface="Calibri" pitchFamily="34" charset="-122"/>
                <a:cs typeface="Calibri" pitchFamily="34" charset="-120"/>
              </a:rPr>
              <a:t>Chicago (select SKUs)</a:t>
            </a:r>
            <a:endParaRPr lang="en-US" sz="1000" dirty="0"/>
          </a:p>
        </p:txBody>
      </p:sp>
      <p:sp>
        <p:nvSpPr>
          <p:cNvPr id="32" name="Text 29"/>
          <p:cNvSpPr/>
          <p:nvPr/>
        </p:nvSpPr>
        <p:spPr>
          <a:xfrm>
            <a:off x="5559552" y="4416552"/>
            <a:ext cx="3108960" cy="164592"/>
          </a:xfrm>
          <a:prstGeom prst="rect">
            <a:avLst/>
          </a:prstGeom>
          <a:noFill/>
          <a:ln/>
        </p:spPr>
        <p:txBody>
          <a:bodyPr wrap="square" lIns="0" tIns="0" rIns="0" bIns="0" rtlCol="0" anchor="ctr"/>
          <a:lstStyle/>
          <a:p>
            <a:pPr marL="0" indent="0">
              <a:buNone/>
            </a:pPr>
            <a:r>
              <a:rPr lang="en-US" sz="900" dirty="0">
                <a:solidFill>
                  <a:srgbClr val="C0392B"/>
                </a:solidFill>
                <a:latin typeface="Calibri" pitchFamily="34" charset="0"/>
                <a:ea typeface="Calibri" pitchFamily="34" charset="-122"/>
                <a:cs typeface="Calibri" pitchFamily="34" charset="-120"/>
              </a:rPr>
              <a:t>$82K  |  –$7K loss</a:t>
            </a:r>
            <a:endParaRPr lang="en-US" sz="900" dirty="0"/>
          </a:p>
        </p:txBody>
      </p:sp>
      <p:sp>
        <p:nvSpPr>
          <p:cNvPr id="33" name="Text 30"/>
          <p:cNvSpPr/>
          <p:nvPr/>
        </p:nvSpPr>
        <p:spPr>
          <a:xfrm>
            <a:off x="320040" y="4041648"/>
            <a:ext cx="5029200" cy="457200"/>
          </a:xfrm>
          <a:prstGeom prst="rect">
            <a:avLst/>
          </a:prstGeom>
          <a:solidFill>
            <a:srgbClr val="FFF3CD"/>
          </a:solidFill>
          <a:ln/>
        </p:spPr>
        <p:txBody>
          <a:bodyPr wrap="square" rtlCol="0" anchor="ctr"/>
          <a:lstStyle/>
          <a:p>
            <a:pPr marL="0" indent="0">
              <a:buNone/>
            </a:pPr>
            <a:r>
              <a:rPr lang="en-US" sz="1000" i="1" dirty="0">
                <a:solidFill>
                  <a:srgbClr val="0D3580"/>
                </a:solidFill>
                <a:latin typeface="Calibri" pitchFamily="34" charset="0"/>
                <a:ea typeface="Calibri" pitchFamily="34" charset="-122"/>
                <a:cs typeface="Calibri" pitchFamily="34" charset="-120"/>
              </a:rPr>
              <a:t>💡  Q4 is the strongest driver of city-level sales (+$998 avg. increase when Quarter = Q4)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3580"/>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FC220"/>
          </a:solidFill>
          <a:ln/>
        </p:spPr>
        <p:txBody>
          <a:bodyPr/>
          <a:lstStyle/>
          <a:p>
            <a:endParaRPr lang="en-US"/>
          </a:p>
        </p:txBody>
      </p:sp>
      <p:sp>
        <p:nvSpPr>
          <p:cNvPr id="3" name="Text 1"/>
          <p:cNvSpPr/>
          <p:nvPr/>
        </p:nvSpPr>
        <p:spPr>
          <a:xfrm>
            <a:off x="457200" y="1463040"/>
            <a:ext cx="8229600" cy="411480"/>
          </a:xfrm>
          <a:prstGeom prst="rect">
            <a:avLst/>
          </a:prstGeom>
          <a:noFill/>
          <a:ln/>
        </p:spPr>
        <p:txBody>
          <a:bodyPr wrap="square" rtlCol="0" anchor="ctr"/>
          <a:lstStyle/>
          <a:p>
            <a:pPr marL="0" indent="0" algn="l">
              <a:buNone/>
            </a:pPr>
            <a:r>
              <a:rPr lang="en-US" sz="1300" b="1" kern="0" spc="500" dirty="0">
                <a:solidFill>
                  <a:srgbClr val="FFC220"/>
                </a:solidFill>
                <a:latin typeface="Calibri" pitchFamily="34" charset="0"/>
                <a:ea typeface="Calibri" pitchFamily="34" charset="-122"/>
                <a:cs typeface="Calibri" pitchFamily="34" charset="-120"/>
              </a:rPr>
              <a:t>SECTION 04</a:t>
            </a:r>
            <a:endParaRPr lang="en-US" sz="1300" dirty="0"/>
          </a:p>
        </p:txBody>
      </p:sp>
      <p:sp>
        <p:nvSpPr>
          <p:cNvPr id="4" name="Text 2"/>
          <p:cNvSpPr/>
          <p:nvPr/>
        </p:nvSpPr>
        <p:spPr>
          <a:xfrm>
            <a:off x="457200" y="1874520"/>
            <a:ext cx="8229600" cy="1097280"/>
          </a:xfrm>
          <a:prstGeom prst="rect">
            <a:avLst/>
          </a:prstGeom>
          <a:noFill/>
          <a:ln/>
        </p:spPr>
        <p:txBody>
          <a:bodyPr wrap="square"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Factor Interactions</a:t>
            </a:r>
            <a:endParaRPr lang="en-US" sz="3800" dirty="0"/>
          </a:p>
          <a:p>
            <a:pPr marL="0" indent="0" algn="l">
              <a:buNone/>
            </a:pPr>
            <a:r>
              <a:rPr lang="en-US" sz="3800" b="1" dirty="0">
                <a:solidFill>
                  <a:srgbClr val="FFFFFF"/>
                </a:solidFill>
                <a:latin typeface="Calibri" pitchFamily="34" charset="0"/>
                <a:ea typeface="Calibri" pitchFamily="34" charset="-122"/>
                <a:cs typeface="Calibri" pitchFamily="34" charset="-120"/>
              </a:rPr>
              <a:t>&amp; Correlations</a:t>
            </a:r>
            <a:endParaRPr lang="en-US" sz="3800" dirty="0"/>
          </a:p>
        </p:txBody>
      </p:sp>
      <p:sp>
        <p:nvSpPr>
          <p:cNvPr id="5" name="Text 3"/>
          <p:cNvSpPr/>
          <p:nvPr/>
        </p:nvSpPr>
        <p:spPr>
          <a:xfrm>
            <a:off x="457200" y="2971800"/>
            <a:ext cx="7315200" cy="685800"/>
          </a:xfrm>
          <a:prstGeom prst="rect">
            <a:avLst/>
          </a:prstGeom>
          <a:noFill/>
          <a:ln/>
        </p:spPr>
        <p:txBody>
          <a:bodyPr wrap="square" rtlCol="0" anchor="ctr"/>
          <a:lstStyle/>
          <a:p>
            <a:pPr marL="0" indent="0" algn="l">
              <a:buNone/>
            </a:pPr>
            <a:r>
              <a:rPr lang="en-US" sz="1600" i="1" dirty="0">
                <a:solidFill>
                  <a:srgbClr val="AABDE0"/>
                </a:solidFill>
                <a:latin typeface="Calibri" pitchFamily="34" charset="0"/>
                <a:ea typeface="Calibri" pitchFamily="34" charset="-122"/>
                <a:cs typeface="Calibri" pitchFamily="34" charset="-120"/>
              </a:rPr>
              <a:t>Quantifying how discounts, shipping modes, and order quantities interact to shape overall profitability.</a:t>
            </a:r>
            <a:endParaRPr lang="en-US" sz="1600" dirty="0"/>
          </a:p>
        </p:txBody>
      </p:sp>
      <p:sp>
        <p:nvSpPr>
          <p:cNvPr id="6" name="Shape 4"/>
          <p:cNvSpPr/>
          <p:nvPr/>
        </p:nvSpPr>
        <p:spPr>
          <a:xfrm>
            <a:off x="7498080" y="731520"/>
            <a:ext cx="2194560" cy="2194560"/>
          </a:xfrm>
          <a:prstGeom prst="ellipse">
            <a:avLst/>
          </a:prstGeom>
          <a:solidFill>
            <a:srgbClr val="0D7AB5">
              <a:alpha val="25000"/>
            </a:srgbClr>
          </a:solidFill>
          <a:ln/>
        </p:spPr>
        <p:txBody>
          <a:bodyPr/>
          <a:lstStyle/>
          <a:p>
            <a:endParaRPr lang="en-US"/>
          </a:p>
        </p:txBody>
      </p:sp>
      <p:sp>
        <p:nvSpPr>
          <p:cNvPr id="7" name="Shape 5"/>
          <p:cNvSpPr/>
          <p:nvPr/>
        </p:nvSpPr>
        <p:spPr>
          <a:xfrm>
            <a:off x="7863840" y="1097280"/>
            <a:ext cx="1463040" cy="1463040"/>
          </a:xfrm>
          <a:prstGeom prst="ellipse">
            <a:avLst/>
          </a:prstGeom>
          <a:solidFill>
            <a:srgbClr val="FFC220">
              <a:alpha val="40000"/>
            </a:srgbClr>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The Impact of Discounts on Profit and Quantity</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16 / 20</a:t>
            </a:r>
            <a:endParaRPr lang="en-US" sz="1100" dirty="0"/>
          </a:p>
        </p:txBody>
      </p:sp>
      <p:sp>
        <p:nvSpPr>
          <p:cNvPr id="6" name="Text 4"/>
          <p:cNvSpPr/>
          <p:nvPr/>
        </p:nvSpPr>
        <p:spPr>
          <a:xfrm>
            <a:off x="320040" y="914400"/>
            <a:ext cx="5029200" cy="274320"/>
          </a:xfrm>
          <a:prstGeom prst="rect">
            <a:avLst/>
          </a:prstGeom>
          <a:noFill/>
          <a:ln/>
        </p:spPr>
        <p:txBody>
          <a:bodyPr wrap="square"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Power BI — Sum of Sales by Discount (Negative Correlation Confirmed)</a:t>
            </a:r>
            <a:endParaRPr lang="en-US" sz="1100" dirty="0"/>
          </a:p>
        </p:txBody>
      </p:sp>
      <p:pic>
        <p:nvPicPr>
          <p:cNvPr id="7" name="Image 0" descr="/mnt/user-data/uploads/WhatsApp_Image_2026-04-29_at_2_36_46_AM__1_.jpeg"/>
          <p:cNvPicPr>
            <a:picLocks noChangeAspect="1"/>
          </p:cNvPicPr>
          <p:nvPr/>
        </p:nvPicPr>
        <p:blipFill>
          <a:blip r:embed="rId3"/>
          <a:stretch>
            <a:fillRect/>
          </a:stretch>
        </p:blipFill>
        <p:spPr>
          <a:xfrm>
            <a:off x="320040" y="1207008"/>
            <a:ext cx="5029200" cy="2560320"/>
          </a:xfrm>
          <a:prstGeom prst="rect">
            <a:avLst/>
          </a:prstGeom>
        </p:spPr>
      </p:pic>
      <p:graphicFrame>
        <p:nvGraphicFramePr>
          <p:cNvPr id="8" name="Chart 0"/>
          <p:cNvGraphicFramePr/>
          <p:nvPr/>
        </p:nvGraphicFramePr>
        <p:xfrm>
          <a:off x="320040" y="3822192"/>
          <a:ext cx="5029200" cy="114300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440680" y="914400"/>
            <a:ext cx="3383280" cy="76809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6"/>
          <p:cNvSpPr/>
          <p:nvPr/>
        </p:nvSpPr>
        <p:spPr>
          <a:xfrm>
            <a:off x="5440680" y="914400"/>
            <a:ext cx="54864" cy="768096"/>
          </a:xfrm>
          <a:prstGeom prst="rect">
            <a:avLst/>
          </a:prstGeom>
          <a:solidFill>
            <a:srgbClr val="C0392B"/>
          </a:solidFill>
          <a:ln/>
        </p:spPr>
        <p:txBody>
          <a:bodyPr/>
          <a:lstStyle/>
          <a:p>
            <a:endParaRPr lang="en-US"/>
          </a:p>
        </p:txBody>
      </p:sp>
      <p:sp>
        <p:nvSpPr>
          <p:cNvPr id="11" name="Text 7"/>
          <p:cNvSpPr/>
          <p:nvPr/>
        </p:nvSpPr>
        <p:spPr>
          <a:xfrm>
            <a:off x="5559552" y="969264"/>
            <a:ext cx="3200400" cy="219456"/>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Strong Negative Correlation</a:t>
            </a:r>
            <a:endParaRPr lang="en-US" sz="1000" dirty="0"/>
          </a:p>
        </p:txBody>
      </p:sp>
      <p:sp>
        <p:nvSpPr>
          <p:cNvPr id="12" name="Text 8"/>
          <p:cNvSpPr/>
          <p:nvPr/>
        </p:nvSpPr>
        <p:spPr>
          <a:xfrm>
            <a:off x="5559552" y="1207008"/>
            <a:ext cx="3200400" cy="40233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Discount and Profit show a correlation of –0.22; as discounts increase beyond 20%, profits turn negative.</a:t>
            </a:r>
            <a:endParaRPr lang="en-US" sz="900" dirty="0"/>
          </a:p>
        </p:txBody>
      </p:sp>
      <p:sp>
        <p:nvSpPr>
          <p:cNvPr id="13" name="Shape 9"/>
          <p:cNvSpPr/>
          <p:nvPr/>
        </p:nvSpPr>
        <p:spPr>
          <a:xfrm>
            <a:off x="5440680" y="1755648"/>
            <a:ext cx="3383280" cy="76809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0"/>
          <p:cNvSpPr/>
          <p:nvPr/>
        </p:nvSpPr>
        <p:spPr>
          <a:xfrm>
            <a:off x="5440680" y="1755648"/>
            <a:ext cx="54864" cy="768096"/>
          </a:xfrm>
          <a:prstGeom prst="rect">
            <a:avLst/>
          </a:prstGeom>
          <a:solidFill>
            <a:srgbClr val="C0392B"/>
          </a:solidFill>
          <a:ln/>
        </p:spPr>
        <p:txBody>
          <a:bodyPr/>
          <a:lstStyle/>
          <a:p>
            <a:endParaRPr lang="en-US"/>
          </a:p>
        </p:txBody>
      </p:sp>
      <p:sp>
        <p:nvSpPr>
          <p:cNvPr id="15" name="Text 11"/>
          <p:cNvSpPr/>
          <p:nvPr/>
        </p:nvSpPr>
        <p:spPr>
          <a:xfrm>
            <a:off x="5559552" y="1810512"/>
            <a:ext cx="3200400" cy="219456"/>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Discount &gt; 30% = Loss Zone</a:t>
            </a:r>
            <a:endParaRPr lang="en-US" sz="1000" dirty="0"/>
          </a:p>
        </p:txBody>
      </p:sp>
      <p:sp>
        <p:nvSpPr>
          <p:cNvPr id="16" name="Text 12"/>
          <p:cNvSpPr/>
          <p:nvPr/>
        </p:nvSpPr>
        <p:spPr>
          <a:xfrm>
            <a:off x="5559552" y="2048256"/>
            <a:ext cx="3200400" cy="40233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Orders with discounts above 30% consistently generate losses, regardless of category or region.</a:t>
            </a:r>
            <a:endParaRPr lang="en-US" sz="900" dirty="0"/>
          </a:p>
        </p:txBody>
      </p:sp>
      <p:sp>
        <p:nvSpPr>
          <p:cNvPr id="17" name="Shape 13"/>
          <p:cNvSpPr/>
          <p:nvPr/>
        </p:nvSpPr>
        <p:spPr>
          <a:xfrm>
            <a:off x="5440680" y="2596896"/>
            <a:ext cx="3383280" cy="76809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4"/>
          <p:cNvSpPr/>
          <p:nvPr/>
        </p:nvSpPr>
        <p:spPr>
          <a:xfrm>
            <a:off x="5440680" y="2596896"/>
            <a:ext cx="54864" cy="768096"/>
          </a:xfrm>
          <a:prstGeom prst="rect">
            <a:avLst/>
          </a:prstGeom>
          <a:solidFill>
            <a:srgbClr val="C0392B"/>
          </a:solidFill>
          <a:ln/>
        </p:spPr>
        <p:txBody>
          <a:bodyPr/>
          <a:lstStyle/>
          <a:p>
            <a:endParaRPr lang="en-US"/>
          </a:p>
        </p:txBody>
      </p:sp>
      <p:sp>
        <p:nvSpPr>
          <p:cNvPr id="19" name="Text 15"/>
          <p:cNvSpPr/>
          <p:nvPr/>
        </p:nvSpPr>
        <p:spPr>
          <a:xfrm>
            <a:off x="5559552" y="2651760"/>
            <a:ext cx="3200400" cy="219456"/>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Quantity Rises with Discount</a:t>
            </a:r>
            <a:endParaRPr lang="en-US" sz="1000" dirty="0"/>
          </a:p>
        </p:txBody>
      </p:sp>
      <p:sp>
        <p:nvSpPr>
          <p:cNvPr id="20" name="Text 16"/>
          <p:cNvSpPr/>
          <p:nvPr/>
        </p:nvSpPr>
        <p:spPr>
          <a:xfrm>
            <a:off x="5559552" y="2889504"/>
            <a:ext cx="3200400" cy="40233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Discount and Quantity have a mild positive correlation (+0.17) — buyers purchase more units at higher discounts, but revenue per unit collapses.</a:t>
            </a:r>
            <a:endParaRPr lang="en-US" sz="900" dirty="0"/>
          </a:p>
        </p:txBody>
      </p:sp>
      <p:sp>
        <p:nvSpPr>
          <p:cNvPr id="21" name="Shape 17"/>
          <p:cNvSpPr/>
          <p:nvPr/>
        </p:nvSpPr>
        <p:spPr>
          <a:xfrm>
            <a:off x="5440680" y="3438144"/>
            <a:ext cx="3383280" cy="76809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18"/>
          <p:cNvSpPr/>
          <p:nvPr/>
        </p:nvSpPr>
        <p:spPr>
          <a:xfrm>
            <a:off x="5440680" y="3438144"/>
            <a:ext cx="54864" cy="768096"/>
          </a:xfrm>
          <a:prstGeom prst="rect">
            <a:avLst/>
          </a:prstGeom>
          <a:solidFill>
            <a:srgbClr val="1B7A3E"/>
          </a:solidFill>
          <a:ln/>
        </p:spPr>
        <p:txBody>
          <a:bodyPr/>
          <a:lstStyle/>
          <a:p>
            <a:endParaRPr lang="en-US"/>
          </a:p>
        </p:txBody>
      </p:sp>
      <p:sp>
        <p:nvSpPr>
          <p:cNvPr id="23" name="Text 19"/>
          <p:cNvSpPr/>
          <p:nvPr/>
        </p:nvSpPr>
        <p:spPr>
          <a:xfrm>
            <a:off x="5559552" y="3493008"/>
            <a:ext cx="3200400" cy="219456"/>
          </a:xfrm>
          <a:prstGeom prst="rect">
            <a:avLst/>
          </a:prstGeom>
          <a:noFill/>
          <a:ln/>
        </p:spPr>
        <p:txBody>
          <a:bodyPr wrap="square" lIns="0" tIns="0" rIns="0" bIns="0" rtlCol="0" anchor="ctr"/>
          <a:lstStyle/>
          <a:p>
            <a:pPr marL="0" indent="0">
              <a:buNone/>
            </a:pPr>
            <a:r>
              <a:rPr lang="en-US" sz="1000" b="1" dirty="0">
                <a:solidFill>
                  <a:srgbClr val="0D3580"/>
                </a:solidFill>
                <a:latin typeface="Calibri" pitchFamily="34" charset="0"/>
                <a:ea typeface="Calibri" pitchFamily="34" charset="-122"/>
                <a:cs typeface="Calibri" pitchFamily="34" charset="-120"/>
              </a:rPr>
              <a:t>💰  Break-Even Threshold</a:t>
            </a:r>
            <a:endParaRPr lang="en-US" sz="1000" dirty="0"/>
          </a:p>
        </p:txBody>
      </p:sp>
      <p:sp>
        <p:nvSpPr>
          <p:cNvPr id="24" name="Text 20"/>
          <p:cNvSpPr/>
          <p:nvPr/>
        </p:nvSpPr>
        <p:spPr>
          <a:xfrm>
            <a:off x="5559552" y="3730752"/>
            <a:ext cx="3200400" cy="40233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 20% discount is the approximate break-even point. Beyond this, every additional percentage point deepens margin erosion.</a:t>
            </a:r>
            <a:endParaRPr lang="en-US" sz="900" dirty="0"/>
          </a:p>
        </p:txBody>
      </p:sp>
      <p:sp>
        <p:nvSpPr>
          <p:cNvPr id="25" name="Shape 21"/>
          <p:cNvSpPr/>
          <p:nvPr/>
        </p:nvSpPr>
        <p:spPr>
          <a:xfrm>
            <a:off x="5440680" y="4279392"/>
            <a:ext cx="3383280" cy="76809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6" name="Shape 22"/>
          <p:cNvSpPr/>
          <p:nvPr/>
        </p:nvSpPr>
        <p:spPr>
          <a:xfrm>
            <a:off x="5440680" y="4279392"/>
            <a:ext cx="54864" cy="768096"/>
          </a:xfrm>
          <a:prstGeom prst="rect">
            <a:avLst/>
          </a:prstGeom>
          <a:solidFill>
            <a:srgbClr val="1B7A3E"/>
          </a:solidFill>
          <a:ln/>
        </p:spPr>
        <p:txBody>
          <a:bodyPr/>
          <a:lstStyle/>
          <a:p>
            <a:endParaRPr lang="en-US"/>
          </a:p>
        </p:txBody>
      </p:sp>
      <p:sp>
        <p:nvSpPr>
          <p:cNvPr id="27" name="Text 23"/>
          <p:cNvSpPr/>
          <p:nvPr/>
        </p:nvSpPr>
        <p:spPr>
          <a:xfrm>
            <a:off x="5559552" y="4334256"/>
            <a:ext cx="3200400" cy="219456"/>
          </a:xfrm>
          <a:prstGeom prst="rect">
            <a:avLst/>
          </a:prstGeom>
          <a:noFill/>
          <a:ln/>
        </p:spPr>
        <p:txBody>
          <a:bodyPr wrap="square" lIns="0" tIns="0" rIns="0" bIns="0" rtlCol="0" anchor="ctr"/>
          <a:lstStyle/>
          <a:p>
            <a:pPr marL="0" indent="0">
              <a:buNone/>
            </a:pPr>
            <a:r>
              <a:rPr lang="en-US" sz="1000" b="1" dirty="0">
                <a:solidFill>
                  <a:srgbClr val="0D3580"/>
                </a:solidFill>
                <a:latin typeface="Calibri" pitchFamily="34" charset="0"/>
                <a:ea typeface="Calibri" pitchFamily="34" charset="-122"/>
                <a:cs typeface="Calibri" pitchFamily="34" charset="-120"/>
              </a:rPr>
              <a:t>🎯  Recommended Policy</a:t>
            </a:r>
            <a:endParaRPr lang="en-US" sz="1000" dirty="0"/>
          </a:p>
        </p:txBody>
      </p:sp>
      <p:sp>
        <p:nvSpPr>
          <p:cNvPr id="28" name="Text 24"/>
          <p:cNvSpPr/>
          <p:nvPr/>
        </p:nvSpPr>
        <p:spPr>
          <a:xfrm>
            <a:off x="5559552" y="4572000"/>
            <a:ext cx="3200400" cy="40233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Cap promotional discounts at 15–20% for standard products; reserve higher discounts only for clearance of aged inventory.</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Shipping Modes &amp; Order Sizes</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17 / 20</a:t>
            </a:r>
            <a:endParaRPr lang="en-US" sz="1100" dirty="0"/>
          </a:p>
        </p:txBody>
      </p:sp>
      <p:sp>
        <p:nvSpPr>
          <p:cNvPr id="6" name="Text 4"/>
          <p:cNvSpPr/>
          <p:nvPr/>
        </p:nvSpPr>
        <p:spPr>
          <a:xfrm>
            <a:off x="320040" y="914400"/>
            <a:ext cx="8503920" cy="274320"/>
          </a:xfrm>
          <a:prstGeom prst="rect">
            <a:avLst/>
          </a:prstGeom>
          <a:noFill/>
          <a:ln/>
        </p:spPr>
        <p:txBody>
          <a:bodyPr wrap="square" rtlCol="0" anchor="ctr"/>
          <a:lstStyle/>
          <a:p>
            <a:pPr marL="0" indent="0">
              <a:buNone/>
            </a:pPr>
            <a:r>
              <a:rPr lang="en-US" sz="1100" b="1" dirty="0">
                <a:solidFill>
                  <a:srgbClr val="0D3580"/>
                </a:solidFill>
                <a:latin typeface="Calibri" pitchFamily="34" charset="0"/>
                <a:ea typeface="Calibri" pitchFamily="34" charset="-122"/>
                <a:cs typeface="Calibri" pitchFamily="34" charset="-120"/>
              </a:rPr>
              <a:t>Monthly Walmart Sales Over Time (2014–2018) — Trend &amp; Seasonality</a:t>
            </a:r>
            <a:endParaRPr lang="en-US" sz="1100" dirty="0"/>
          </a:p>
        </p:txBody>
      </p:sp>
      <p:pic>
        <p:nvPicPr>
          <p:cNvPr id="7" name="Image 0" descr="/mnt/user-data/uploads/timeseries_sales.png"/>
          <p:cNvPicPr>
            <a:picLocks noChangeAspect="1"/>
          </p:cNvPicPr>
          <p:nvPr/>
        </p:nvPicPr>
        <p:blipFill>
          <a:blip r:embed="rId3"/>
          <a:stretch>
            <a:fillRect/>
          </a:stretch>
        </p:blipFill>
        <p:spPr>
          <a:xfrm>
            <a:off x="320040" y="1207008"/>
            <a:ext cx="8503920" cy="2084832"/>
          </a:xfrm>
          <a:prstGeom prst="rect">
            <a:avLst/>
          </a:prstGeom>
        </p:spPr>
      </p:pic>
      <p:sp>
        <p:nvSpPr>
          <p:cNvPr id="8" name="Shape 5"/>
          <p:cNvSpPr/>
          <p:nvPr/>
        </p:nvSpPr>
        <p:spPr>
          <a:xfrm>
            <a:off x="320040" y="3419856"/>
            <a:ext cx="1965960" cy="14813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6"/>
          <p:cNvSpPr/>
          <p:nvPr/>
        </p:nvSpPr>
        <p:spPr>
          <a:xfrm>
            <a:off x="320040" y="3419856"/>
            <a:ext cx="1965960" cy="54864"/>
          </a:xfrm>
          <a:prstGeom prst="rect">
            <a:avLst/>
          </a:prstGeom>
          <a:solidFill>
            <a:srgbClr val="0D3580"/>
          </a:solidFill>
          <a:ln/>
        </p:spPr>
        <p:txBody>
          <a:bodyPr/>
          <a:lstStyle/>
          <a:p>
            <a:endParaRPr lang="en-US"/>
          </a:p>
        </p:txBody>
      </p:sp>
      <p:sp>
        <p:nvSpPr>
          <p:cNvPr id="10" name="Text 7"/>
          <p:cNvSpPr/>
          <p:nvPr/>
        </p:nvSpPr>
        <p:spPr>
          <a:xfrm>
            <a:off x="411480" y="3493008"/>
            <a:ext cx="1783080" cy="237744"/>
          </a:xfrm>
          <a:prstGeom prst="rect">
            <a:avLst/>
          </a:prstGeom>
          <a:noFill/>
          <a:ln/>
        </p:spPr>
        <p:txBody>
          <a:bodyPr wrap="square" lIns="0" tIns="0" rIns="0" bIns="0" rtlCol="0" anchor="ctr"/>
          <a:lstStyle/>
          <a:p>
            <a:pPr marL="0" indent="0">
              <a:buNone/>
            </a:pPr>
            <a:r>
              <a:rPr lang="en-US" sz="1000" b="1" dirty="0">
                <a:solidFill>
                  <a:srgbClr val="0D3580"/>
                </a:solidFill>
                <a:latin typeface="Calibri" pitchFamily="34" charset="0"/>
                <a:ea typeface="Calibri" pitchFamily="34" charset="-122"/>
                <a:cs typeface="Calibri" pitchFamily="34" charset="-120"/>
              </a:rPr>
              <a:t>Standard Class</a:t>
            </a:r>
            <a:endParaRPr lang="en-US" sz="1000" dirty="0"/>
          </a:p>
        </p:txBody>
      </p:sp>
      <p:sp>
        <p:nvSpPr>
          <p:cNvPr id="11" name="Text 8"/>
          <p:cNvSpPr/>
          <p:nvPr/>
        </p:nvSpPr>
        <p:spPr>
          <a:xfrm>
            <a:off x="411480" y="3730752"/>
            <a:ext cx="1783080" cy="274320"/>
          </a:xfrm>
          <a:prstGeom prst="rect">
            <a:avLst/>
          </a:prstGeom>
          <a:noFill/>
          <a:ln/>
        </p:spPr>
        <p:txBody>
          <a:bodyPr wrap="square" lIns="0" tIns="0" rIns="0" bIns="0" rtlCol="0" anchor="ctr"/>
          <a:lstStyle/>
          <a:p>
            <a:pPr marL="0" indent="0">
              <a:buNone/>
            </a:pPr>
            <a:r>
              <a:rPr lang="en-US" sz="2000" b="1" dirty="0">
                <a:solidFill>
                  <a:srgbClr val="0D3580"/>
                </a:solidFill>
                <a:latin typeface="Calibri" pitchFamily="34" charset="0"/>
                <a:ea typeface="Calibri" pitchFamily="34" charset="-122"/>
                <a:cs typeface="Calibri" pitchFamily="34" charset="-120"/>
              </a:rPr>
              <a:t>60% share</a:t>
            </a:r>
            <a:endParaRPr lang="en-US" sz="2000" dirty="0"/>
          </a:p>
        </p:txBody>
      </p:sp>
      <p:sp>
        <p:nvSpPr>
          <p:cNvPr id="12" name="Text 9"/>
          <p:cNvSpPr/>
          <p:nvPr/>
        </p:nvSpPr>
        <p:spPr>
          <a:xfrm>
            <a:off x="411480" y="4005072"/>
            <a:ext cx="1783080" cy="201168"/>
          </a:xfrm>
          <a:prstGeom prst="rect">
            <a:avLst/>
          </a:prstGeom>
          <a:noFill/>
          <a:ln/>
        </p:spPr>
        <p:txBody>
          <a:bodyPr wrap="square" lIns="0" tIns="0" rIns="0" bIns="0" rtlCol="0" anchor="ctr"/>
          <a:lstStyle/>
          <a:p>
            <a:pPr marL="0" indent="0">
              <a:buNone/>
            </a:pPr>
            <a:r>
              <a:rPr lang="en-US" sz="1000" b="1" dirty="0">
                <a:solidFill>
                  <a:srgbClr val="0D3580"/>
                </a:solidFill>
                <a:latin typeface="Calibri" pitchFamily="34" charset="0"/>
                <a:ea typeface="Calibri" pitchFamily="34" charset="-122"/>
                <a:cs typeface="Calibri" pitchFamily="34" charset="-120"/>
              </a:rPr>
              <a:t>$1.37M</a:t>
            </a:r>
            <a:endParaRPr lang="en-US" sz="1000" dirty="0"/>
          </a:p>
        </p:txBody>
      </p:sp>
      <p:sp>
        <p:nvSpPr>
          <p:cNvPr id="13" name="Text 10"/>
          <p:cNvSpPr/>
          <p:nvPr/>
        </p:nvSpPr>
        <p:spPr>
          <a:xfrm>
            <a:off x="411480" y="4224528"/>
            <a:ext cx="1783080" cy="56692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Most popular; avg 5-day delivery; best for bulk orders</a:t>
            </a:r>
            <a:endParaRPr lang="en-US" sz="850" dirty="0"/>
          </a:p>
        </p:txBody>
      </p:sp>
      <p:sp>
        <p:nvSpPr>
          <p:cNvPr id="14" name="Shape 11"/>
          <p:cNvSpPr/>
          <p:nvPr/>
        </p:nvSpPr>
        <p:spPr>
          <a:xfrm>
            <a:off x="2468880" y="3419856"/>
            <a:ext cx="1965960" cy="14813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2"/>
          <p:cNvSpPr/>
          <p:nvPr/>
        </p:nvSpPr>
        <p:spPr>
          <a:xfrm>
            <a:off x="2468880" y="3419856"/>
            <a:ext cx="1965960" cy="54864"/>
          </a:xfrm>
          <a:prstGeom prst="rect">
            <a:avLst/>
          </a:prstGeom>
          <a:solidFill>
            <a:srgbClr val="0D7AB5"/>
          </a:solidFill>
          <a:ln/>
        </p:spPr>
        <p:txBody>
          <a:bodyPr/>
          <a:lstStyle/>
          <a:p>
            <a:endParaRPr lang="en-US"/>
          </a:p>
        </p:txBody>
      </p:sp>
      <p:sp>
        <p:nvSpPr>
          <p:cNvPr id="16" name="Text 13"/>
          <p:cNvSpPr/>
          <p:nvPr/>
        </p:nvSpPr>
        <p:spPr>
          <a:xfrm>
            <a:off x="2560320" y="3493008"/>
            <a:ext cx="1783080" cy="237744"/>
          </a:xfrm>
          <a:prstGeom prst="rect">
            <a:avLst/>
          </a:prstGeom>
          <a:noFill/>
          <a:ln/>
        </p:spPr>
        <p:txBody>
          <a:bodyPr wrap="square" lIns="0" tIns="0" rIns="0" bIns="0" rtlCol="0" anchor="ctr"/>
          <a:lstStyle/>
          <a:p>
            <a:pPr marL="0" indent="0">
              <a:buNone/>
            </a:pPr>
            <a:r>
              <a:rPr lang="en-US" sz="1000" b="1" dirty="0">
                <a:solidFill>
                  <a:srgbClr val="0D7AB5"/>
                </a:solidFill>
                <a:latin typeface="Calibri" pitchFamily="34" charset="0"/>
                <a:ea typeface="Calibri" pitchFamily="34" charset="-122"/>
                <a:cs typeface="Calibri" pitchFamily="34" charset="-120"/>
              </a:rPr>
              <a:t>Second Class</a:t>
            </a:r>
            <a:endParaRPr lang="en-US" sz="1000" dirty="0"/>
          </a:p>
        </p:txBody>
      </p:sp>
      <p:sp>
        <p:nvSpPr>
          <p:cNvPr id="17" name="Text 14"/>
          <p:cNvSpPr/>
          <p:nvPr/>
        </p:nvSpPr>
        <p:spPr>
          <a:xfrm>
            <a:off x="2560320" y="3730752"/>
            <a:ext cx="1783080" cy="274320"/>
          </a:xfrm>
          <a:prstGeom prst="rect">
            <a:avLst/>
          </a:prstGeom>
          <a:noFill/>
          <a:ln/>
        </p:spPr>
        <p:txBody>
          <a:bodyPr wrap="square" lIns="0" tIns="0" rIns="0" bIns="0" rtlCol="0" anchor="ctr"/>
          <a:lstStyle/>
          <a:p>
            <a:pPr marL="0" indent="0">
              <a:buNone/>
            </a:pPr>
            <a:r>
              <a:rPr lang="en-US" sz="2000" b="1" dirty="0">
                <a:solidFill>
                  <a:srgbClr val="0D3580"/>
                </a:solidFill>
                <a:latin typeface="Calibri" pitchFamily="34" charset="0"/>
                <a:ea typeface="Calibri" pitchFamily="34" charset="-122"/>
                <a:cs typeface="Calibri" pitchFamily="34" charset="-120"/>
              </a:rPr>
              <a:t>19% share</a:t>
            </a:r>
            <a:endParaRPr lang="en-US" sz="2000" dirty="0"/>
          </a:p>
        </p:txBody>
      </p:sp>
      <p:sp>
        <p:nvSpPr>
          <p:cNvPr id="18" name="Text 15"/>
          <p:cNvSpPr/>
          <p:nvPr/>
        </p:nvSpPr>
        <p:spPr>
          <a:xfrm>
            <a:off x="2560320" y="4005072"/>
            <a:ext cx="1783080" cy="201168"/>
          </a:xfrm>
          <a:prstGeom prst="rect">
            <a:avLst/>
          </a:prstGeom>
          <a:noFill/>
          <a:ln/>
        </p:spPr>
        <p:txBody>
          <a:bodyPr wrap="square" lIns="0" tIns="0" rIns="0" bIns="0" rtlCol="0" anchor="ctr"/>
          <a:lstStyle/>
          <a:p>
            <a:pPr marL="0" indent="0">
              <a:buNone/>
            </a:pPr>
            <a:r>
              <a:rPr lang="en-US" sz="1000" b="1" dirty="0">
                <a:solidFill>
                  <a:srgbClr val="0D7AB5"/>
                </a:solidFill>
                <a:latin typeface="Calibri" pitchFamily="34" charset="0"/>
                <a:ea typeface="Calibri" pitchFamily="34" charset="-122"/>
                <a:cs typeface="Calibri" pitchFamily="34" charset="-120"/>
              </a:rPr>
              <a:t>$459K</a:t>
            </a:r>
            <a:endParaRPr lang="en-US" sz="1000" dirty="0"/>
          </a:p>
        </p:txBody>
      </p:sp>
      <p:sp>
        <p:nvSpPr>
          <p:cNvPr id="19" name="Text 16"/>
          <p:cNvSpPr/>
          <p:nvPr/>
        </p:nvSpPr>
        <p:spPr>
          <a:xfrm>
            <a:off x="2560320" y="4224528"/>
            <a:ext cx="1783080" cy="56692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Mid-tier option; used primarily by Corporate segment</a:t>
            </a:r>
            <a:endParaRPr lang="en-US" sz="850" dirty="0"/>
          </a:p>
        </p:txBody>
      </p:sp>
      <p:sp>
        <p:nvSpPr>
          <p:cNvPr id="20" name="Shape 17"/>
          <p:cNvSpPr/>
          <p:nvPr/>
        </p:nvSpPr>
        <p:spPr>
          <a:xfrm>
            <a:off x="4617720" y="3419856"/>
            <a:ext cx="1965960" cy="14813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8"/>
          <p:cNvSpPr/>
          <p:nvPr/>
        </p:nvSpPr>
        <p:spPr>
          <a:xfrm>
            <a:off x="4617720" y="3419856"/>
            <a:ext cx="1965960" cy="54864"/>
          </a:xfrm>
          <a:prstGeom prst="rect">
            <a:avLst/>
          </a:prstGeom>
          <a:solidFill>
            <a:srgbClr val="7C3AED"/>
          </a:solidFill>
          <a:ln/>
        </p:spPr>
        <p:txBody>
          <a:bodyPr/>
          <a:lstStyle/>
          <a:p>
            <a:endParaRPr lang="en-US"/>
          </a:p>
        </p:txBody>
      </p:sp>
      <p:sp>
        <p:nvSpPr>
          <p:cNvPr id="22" name="Text 19"/>
          <p:cNvSpPr/>
          <p:nvPr/>
        </p:nvSpPr>
        <p:spPr>
          <a:xfrm>
            <a:off x="4709160" y="3493008"/>
            <a:ext cx="1783080" cy="237744"/>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First Class</a:t>
            </a:r>
            <a:endParaRPr lang="en-US" sz="1000" dirty="0"/>
          </a:p>
        </p:txBody>
      </p:sp>
      <p:sp>
        <p:nvSpPr>
          <p:cNvPr id="23" name="Text 20"/>
          <p:cNvSpPr/>
          <p:nvPr/>
        </p:nvSpPr>
        <p:spPr>
          <a:xfrm>
            <a:off x="4709160" y="3730752"/>
            <a:ext cx="1783080" cy="274320"/>
          </a:xfrm>
          <a:prstGeom prst="rect">
            <a:avLst/>
          </a:prstGeom>
          <a:noFill/>
          <a:ln/>
        </p:spPr>
        <p:txBody>
          <a:bodyPr wrap="square" lIns="0" tIns="0" rIns="0" bIns="0" rtlCol="0" anchor="ctr"/>
          <a:lstStyle/>
          <a:p>
            <a:pPr marL="0" indent="0">
              <a:buNone/>
            </a:pPr>
            <a:r>
              <a:rPr lang="en-US" sz="2000" b="1" dirty="0">
                <a:solidFill>
                  <a:srgbClr val="0D3580"/>
                </a:solidFill>
                <a:latin typeface="Calibri" pitchFamily="34" charset="0"/>
                <a:ea typeface="Calibri" pitchFamily="34" charset="-122"/>
                <a:cs typeface="Calibri" pitchFamily="34" charset="-120"/>
              </a:rPr>
              <a:t>15% share</a:t>
            </a:r>
            <a:endParaRPr lang="en-US" sz="2000" dirty="0"/>
          </a:p>
        </p:txBody>
      </p:sp>
      <p:sp>
        <p:nvSpPr>
          <p:cNvPr id="24" name="Text 21"/>
          <p:cNvSpPr/>
          <p:nvPr/>
        </p:nvSpPr>
        <p:spPr>
          <a:xfrm>
            <a:off x="4709160" y="4005072"/>
            <a:ext cx="1783080" cy="201168"/>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$352K</a:t>
            </a:r>
            <a:endParaRPr lang="en-US" sz="1000" dirty="0"/>
          </a:p>
        </p:txBody>
      </p:sp>
      <p:sp>
        <p:nvSpPr>
          <p:cNvPr id="25" name="Text 22"/>
          <p:cNvSpPr/>
          <p:nvPr/>
        </p:nvSpPr>
        <p:spPr>
          <a:xfrm>
            <a:off x="4709160" y="4224528"/>
            <a:ext cx="1783080" cy="56692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Premium speed; often selected for Technology items</a:t>
            </a:r>
            <a:endParaRPr lang="en-US" sz="850" dirty="0"/>
          </a:p>
        </p:txBody>
      </p:sp>
      <p:sp>
        <p:nvSpPr>
          <p:cNvPr id="26" name="Shape 23"/>
          <p:cNvSpPr/>
          <p:nvPr/>
        </p:nvSpPr>
        <p:spPr>
          <a:xfrm>
            <a:off x="6766560" y="3419856"/>
            <a:ext cx="1965960" cy="148132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7" name="Shape 24"/>
          <p:cNvSpPr/>
          <p:nvPr/>
        </p:nvSpPr>
        <p:spPr>
          <a:xfrm>
            <a:off x="6766560" y="3419856"/>
            <a:ext cx="1965960" cy="54864"/>
          </a:xfrm>
          <a:prstGeom prst="rect">
            <a:avLst/>
          </a:prstGeom>
          <a:solidFill>
            <a:srgbClr val="C0392B"/>
          </a:solidFill>
          <a:ln/>
        </p:spPr>
        <p:txBody>
          <a:bodyPr/>
          <a:lstStyle/>
          <a:p>
            <a:endParaRPr lang="en-US"/>
          </a:p>
        </p:txBody>
      </p:sp>
      <p:sp>
        <p:nvSpPr>
          <p:cNvPr id="28" name="Text 25"/>
          <p:cNvSpPr/>
          <p:nvPr/>
        </p:nvSpPr>
        <p:spPr>
          <a:xfrm>
            <a:off x="6858000" y="3493008"/>
            <a:ext cx="1783080" cy="237744"/>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Same Day</a:t>
            </a:r>
            <a:endParaRPr lang="en-US" sz="1000" dirty="0"/>
          </a:p>
        </p:txBody>
      </p:sp>
      <p:sp>
        <p:nvSpPr>
          <p:cNvPr id="29" name="Text 26"/>
          <p:cNvSpPr/>
          <p:nvPr/>
        </p:nvSpPr>
        <p:spPr>
          <a:xfrm>
            <a:off x="6858000" y="3730752"/>
            <a:ext cx="1783080" cy="274320"/>
          </a:xfrm>
          <a:prstGeom prst="rect">
            <a:avLst/>
          </a:prstGeom>
          <a:noFill/>
          <a:ln/>
        </p:spPr>
        <p:txBody>
          <a:bodyPr wrap="square" lIns="0" tIns="0" rIns="0" bIns="0" rtlCol="0" anchor="ctr"/>
          <a:lstStyle/>
          <a:p>
            <a:pPr marL="0" indent="0">
              <a:buNone/>
            </a:pPr>
            <a:r>
              <a:rPr lang="en-US" sz="2000" b="1" dirty="0">
                <a:solidFill>
                  <a:srgbClr val="0D3580"/>
                </a:solidFill>
                <a:latin typeface="Calibri" pitchFamily="34" charset="0"/>
                <a:ea typeface="Calibri" pitchFamily="34" charset="-122"/>
                <a:cs typeface="Calibri" pitchFamily="34" charset="-120"/>
              </a:rPr>
              <a:t>6% share</a:t>
            </a:r>
            <a:endParaRPr lang="en-US" sz="2000" dirty="0"/>
          </a:p>
        </p:txBody>
      </p:sp>
      <p:sp>
        <p:nvSpPr>
          <p:cNvPr id="30" name="Text 27"/>
          <p:cNvSpPr/>
          <p:nvPr/>
        </p:nvSpPr>
        <p:spPr>
          <a:xfrm>
            <a:off x="6858000" y="4005072"/>
            <a:ext cx="1783080" cy="20116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$129K</a:t>
            </a:r>
            <a:endParaRPr lang="en-US" sz="1000" dirty="0"/>
          </a:p>
        </p:txBody>
      </p:sp>
      <p:sp>
        <p:nvSpPr>
          <p:cNvPr id="31" name="Text 28"/>
          <p:cNvSpPr/>
          <p:nvPr/>
        </p:nvSpPr>
        <p:spPr>
          <a:xfrm>
            <a:off x="6858000" y="4224528"/>
            <a:ext cx="1783080" cy="56692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Lowest volume; highest cost; mainly urban markets</a:t>
            </a:r>
            <a:endParaRPr lang="en-US" sz="850" dirty="0"/>
          </a:p>
        </p:txBody>
      </p:sp>
      <p:sp>
        <p:nvSpPr>
          <p:cNvPr id="32" name="Text 29"/>
          <p:cNvSpPr/>
          <p:nvPr/>
        </p:nvSpPr>
        <p:spPr>
          <a:xfrm>
            <a:off x="320040" y="4956048"/>
            <a:ext cx="8503920" cy="0"/>
          </a:xfrm>
          <a:prstGeom prst="rect">
            <a:avLst/>
          </a:prstGeom>
          <a:noFill/>
          <a:ln/>
        </p:spPr>
        <p:txBody>
          <a:bodyPr wrap="square" rtlCol="0" anchor="ctr"/>
          <a:lstStyle/>
          <a:p>
            <a:pPr marL="0" indent="0">
              <a:buNone/>
            </a:pPr>
            <a:r>
              <a:rPr lang="en-US" sz="1000" i="1" dirty="0">
                <a:solidFill>
                  <a:srgbClr val="0D3580"/>
                </a:solidFill>
                <a:latin typeface="Calibri" pitchFamily="34" charset="0"/>
                <a:ea typeface="Calibri" pitchFamily="34" charset="-122"/>
                <a:cs typeface="Calibri" pitchFamily="34" charset="-120"/>
              </a:rPr>
              <a:t>📈  Sales show clear upward trend 2014–2018 with strong Q4 seasonality. November 2017 peaks at $22,500 — driven by holiday-season demand across Consumer and Corporate segments.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220"/>
          </a:solidFill>
          <a:ln/>
        </p:spPr>
        <p:txBody>
          <a:bodyPr/>
          <a:lstStyle/>
          <a:p>
            <a:endParaRPr lang="en-US"/>
          </a:p>
        </p:txBody>
      </p:sp>
      <p:sp>
        <p:nvSpPr>
          <p:cNvPr id="3" name="Shape 1"/>
          <p:cNvSpPr/>
          <p:nvPr/>
        </p:nvSpPr>
        <p:spPr>
          <a:xfrm>
            <a:off x="0" y="73152"/>
            <a:ext cx="9144000" cy="713232"/>
          </a:xfrm>
          <a:prstGeom prst="rect">
            <a:avLst/>
          </a:prstGeom>
          <a:solidFill>
            <a:srgbClr val="0D3580"/>
          </a:solidFill>
          <a:ln/>
        </p:spPr>
        <p:txBody>
          <a:bodyPr/>
          <a:lstStyle/>
          <a:p>
            <a:endParaRPr lang="en-US"/>
          </a:p>
        </p:txBody>
      </p:sp>
      <p:sp>
        <p:nvSpPr>
          <p:cNvPr id="4" name="Text 2"/>
          <p:cNvSpPr/>
          <p:nvPr/>
        </p:nvSpPr>
        <p:spPr>
          <a:xfrm>
            <a:off x="365760" y="73152"/>
            <a:ext cx="7863840" cy="713232"/>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Strategic Summary Matrix</a:t>
            </a:r>
            <a:endParaRPr lang="en-US" sz="2200" dirty="0"/>
          </a:p>
        </p:txBody>
      </p:sp>
      <p:sp>
        <p:nvSpPr>
          <p:cNvPr id="5" name="Text 3"/>
          <p:cNvSpPr/>
          <p:nvPr/>
        </p:nvSpPr>
        <p:spPr>
          <a:xfrm>
            <a:off x="7955280" y="73152"/>
            <a:ext cx="1005840" cy="713232"/>
          </a:xfrm>
          <a:prstGeom prst="rect">
            <a:avLst/>
          </a:prstGeom>
          <a:noFill/>
          <a:ln/>
        </p:spPr>
        <p:txBody>
          <a:bodyPr wrap="square" lIns="0" tIns="0" rIns="0" bIns="0" rtlCol="0" anchor="ctr"/>
          <a:lstStyle/>
          <a:p>
            <a:pPr marL="0" indent="0" algn="r">
              <a:buNone/>
            </a:pPr>
            <a:r>
              <a:rPr lang="en-US" sz="1100" dirty="0">
                <a:solidFill>
                  <a:srgbClr val="FFC220"/>
                </a:solidFill>
                <a:latin typeface="Calibri" pitchFamily="34" charset="0"/>
                <a:ea typeface="Calibri" pitchFamily="34" charset="-122"/>
                <a:cs typeface="Calibri" pitchFamily="34" charset="-120"/>
              </a:rPr>
              <a:t>18 / 20</a:t>
            </a:r>
            <a:endParaRPr lang="en-US" sz="1100" dirty="0"/>
          </a:p>
        </p:txBody>
      </p:sp>
      <p:sp>
        <p:nvSpPr>
          <p:cNvPr id="6" name="Text 4"/>
          <p:cNvSpPr/>
          <p:nvPr/>
        </p:nvSpPr>
        <p:spPr>
          <a:xfrm>
            <a:off x="320040" y="868680"/>
            <a:ext cx="8503920" cy="256032"/>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A clear ACTION FRAMEWORK for Walmart owners and managers based on data findings.</a:t>
            </a:r>
            <a:endParaRPr lang="en-US" sz="1150" dirty="0"/>
          </a:p>
        </p:txBody>
      </p:sp>
      <p:sp>
        <p:nvSpPr>
          <p:cNvPr id="7" name="Shape 5"/>
          <p:cNvSpPr/>
          <p:nvPr/>
        </p:nvSpPr>
        <p:spPr>
          <a:xfrm>
            <a:off x="320040" y="1207008"/>
            <a:ext cx="4160520" cy="384048"/>
          </a:xfrm>
          <a:prstGeom prst="rect">
            <a:avLst/>
          </a:prstGeom>
          <a:solidFill>
            <a:srgbClr val="1B7A3E"/>
          </a:solidFill>
          <a:ln/>
        </p:spPr>
        <p:txBody>
          <a:bodyPr/>
          <a:lstStyle/>
          <a:p>
            <a:endParaRPr lang="en-US"/>
          </a:p>
        </p:txBody>
      </p:sp>
      <p:sp>
        <p:nvSpPr>
          <p:cNvPr id="8" name="Text 6"/>
          <p:cNvSpPr/>
          <p:nvPr/>
        </p:nvSpPr>
        <p:spPr>
          <a:xfrm>
            <a:off x="320040" y="1207008"/>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TARGET — INVEST &amp; GROW</a:t>
            </a:r>
            <a:endParaRPr lang="en-US" sz="1300" dirty="0"/>
          </a:p>
        </p:txBody>
      </p:sp>
      <p:sp>
        <p:nvSpPr>
          <p:cNvPr id="9" name="Shape 7"/>
          <p:cNvSpPr/>
          <p:nvPr/>
        </p:nvSpPr>
        <p:spPr>
          <a:xfrm>
            <a:off x="320040" y="1591056"/>
            <a:ext cx="4160520" cy="3364992"/>
          </a:xfrm>
          <a:prstGeom prst="rect">
            <a:avLst/>
          </a:prstGeom>
          <a:solidFill>
            <a:srgbClr val="F0FDF4"/>
          </a:solidFill>
          <a:ln w="12700">
            <a:solidFill>
              <a:srgbClr val="D1FAE5"/>
            </a:solidFill>
            <a:prstDash val="solid"/>
          </a:ln>
        </p:spPr>
        <p:txBody>
          <a:bodyPr/>
          <a:lstStyle/>
          <a:p>
            <a:endParaRPr lang="en-US"/>
          </a:p>
        </p:txBody>
      </p:sp>
      <p:sp>
        <p:nvSpPr>
          <p:cNvPr id="10" name="Text 8"/>
          <p:cNvSpPr/>
          <p:nvPr/>
        </p:nvSpPr>
        <p:spPr>
          <a:xfrm>
            <a:off x="457200" y="1645920"/>
            <a:ext cx="1005840" cy="34747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Products:</a:t>
            </a:r>
            <a:endParaRPr lang="en-US" sz="1000" dirty="0"/>
          </a:p>
        </p:txBody>
      </p:sp>
      <p:sp>
        <p:nvSpPr>
          <p:cNvPr id="11" name="Text 9"/>
          <p:cNvSpPr/>
          <p:nvPr/>
        </p:nvSpPr>
        <p:spPr>
          <a:xfrm>
            <a:off x="1463040" y="1645920"/>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Technology (Phones, Machines); Office Chairs; Binders; Storage</a:t>
            </a:r>
            <a:endParaRPr lang="en-US" sz="1000" dirty="0"/>
          </a:p>
        </p:txBody>
      </p:sp>
      <p:sp>
        <p:nvSpPr>
          <p:cNvPr id="12" name="Text 10"/>
          <p:cNvSpPr/>
          <p:nvPr/>
        </p:nvSpPr>
        <p:spPr>
          <a:xfrm>
            <a:off x="457200" y="2048256"/>
            <a:ext cx="1005840" cy="34747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Categories:</a:t>
            </a:r>
            <a:endParaRPr lang="en-US" sz="1000" dirty="0"/>
          </a:p>
        </p:txBody>
      </p:sp>
      <p:sp>
        <p:nvSpPr>
          <p:cNvPr id="13" name="Text 11"/>
          <p:cNvSpPr/>
          <p:nvPr/>
        </p:nvSpPr>
        <p:spPr>
          <a:xfrm>
            <a:off x="1463040" y="2048256"/>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Technology &amp; Furniture — highest per-unit revenue</a:t>
            </a:r>
            <a:endParaRPr lang="en-US" sz="1000" dirty="0"/>
          </a:p>
        </p:txBody>
      </p:sp>
      <p:sp>
        <p:nvSpPr>
          <p:cNvPr id="14" name="Text 12"/>
          <p:cNvSpPr/>
          <p:nvPr/>
        </p:nvSpPr>
        <p:spPr>
          <a:xfrm>
            <a:off x="457200" y="2450592"/>
            <a:ext cx="1005840" cy="34747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Segments:</a:t>
            </a:r>
            <a:endParaRPr lang="en-US" sz="1000" dirty="0"/>
          </a:p>
        </p:txBody>
      </p:sp>
      <p:sp>
        <p:nvSpPr>
          <p:cNvPr id="15" name="Text 13"/>
          <p:cNvSpPr/>
          <p:nvPr/>
        </p:nvSpPr>
        <p:spPr>
          <a:xfrm>
            <a:off x="1463040" y="2450592"/>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Corporate (highest avg. ticket); Consumer (highest volume)</a:t>
            </a:r>
            <a:endParaRPr lang="en-US" sz="1000" dirty="0"/>
          </a:p>
        </p:txBody>
      </p:sp>
      <p:sp>
        <p:nvSpPr>
          <p:cNvPr id="16" name="Text 14"/>
          <p:cNvSpPr/>
          <p:nvPr/>
        </p:nvSpPr>
        <p:spPr>
          <a:xfrm>
            <a:off x="457200" y="2852928"/>
            <a:ext cx="1005840" cy="34747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Regions:</a:t>
            </a:r>
            <a:endParaRPr lang="en-US" sz="1000" dirty="0"/>
          </a:p>
        </p:txBody>
      </p:sp>
      <p:sp>
        <p:nvSpPr>
          <p:cNvPr id="17" name="Text 15"/>
          <p:cNvSpPr/>
          <p:nvPr/>
        </p:nvSpPr>
        <p:spPr>
          <a:xfrm>
            <a:off x="1463040" y="2852928"/>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West (California, Washington); East (New York, Pennsylvania)</a:t>
            </a:r>
            <a:endParaRPr lang="en-US" sz="1000" dirty="0"/>
          </a:p>
        </p:txBody>
      </p:sp>
      <p:sp>
        <p:nvSpPr>
          <p:cNvPr id="18" name="Text 16"/>
          <p:cNvSpPr/>
          <p:nvPr/>
        </p:nvSpPr>
        <p:spPr>
          <a:xfrm>
            <a:off x="457200" y="3255264"/>
            <a:ext cx="1005840" cy="34747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Cities:</a:t>
            </a:r>
            <a:endParaRPr lang="en-US" sz="1000" dirty="0"/>
          </a:p>
        </p:txBody>
      </p:sp>
      <p:sp>
        <p:nvSpPr>
          <p:cNvPr id="19" name="Text 17"/>
          <p:cNvSpPr/>
          <p:nvPr/>
        </p:nvSpPr>
        <p:spPr>
          <a:xfrm>
            <a:off x="1463040" y="3255264"/>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NYC, LA, Seattle, San Francisco — all high-profit metropolitan hubs</a:t>
            </a:r>
            <a:endParaRPr lang="en-US" sz="1000" dirty="0"/>
          </a:p>
        </p:txBody>
      </p:sp>
      <p:sp>
        <p:nvSpPr>
          <p:cNvPr id="20" name="Text 18"/>
          <p:cNvSpPr/>
          <p:nvPr/>
        </p:nvSpPr>
        <p:spPr>
          <a:xfrm>
            <a:off x="457200" y="3657600"/>
            <a:ext cx="1005840" cy="34747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Discounts:</a:t>
            </a:r>
            <a:endParaRPr lang="en-US" sz="1000" dirty="0"/>
          </a:p>
        </p:txBody>
      </p:sp>
      <p:sp>
        <p:nvSpPr>
          <p:cNvPr id="21" name="Text 19"/>
          <p:cNvSpPr/>
          <p:nvPr/>
        </p:nvSpPr>
        <p:spPr>
          <a:xfrm>
            <a:off x="1463040" y="3657600"/>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Cap at ≤15–20% to preserve margin integrity</a:t>
            </a:r>
            <a:endParaRPr lang="en-US" sz="1000" dirty="0"/>
          </a:p>
        </p:txBody>
      </p:sp>
      <p:sp>
        <p:nvSpPr>
          <p:cNvPr id="22" name="Text 20"/>
          <p:cNvSpPr/>
          <p:nvPr/>
        </p:nvSpPr>
        <p:spPr>
          <a:xfrm>
            <a:off x="457200" y="4059936"/>
            <a:ext cx="1005840" cy="34747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Shipping:</a:t>
            </a:r>
            <a:endParaRPr lang="en-US" sz="1000" dirty="0"/>
          </a:p>
        </p:txBody>
      </p:sp>
      <p:sp>
        <p:nvSpPr>
          <p:cNvPr id="23" name="Text 21"/>
          <p:cNvSpPr/>
          <p:nvPr/>
        </p:nvSpPr>
        <p:spPr>
          <a:xfrm>
            <a:off x="1463040" y="4059936"/>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Standard Class for bulk; First Class for Technology upsell</a:t>
            </a:r>
            <a:endParaRPr lang="en-US" sz="1000" dirty="0"/>
          </a:p>
        </p:txBody>
      </p:sp>
      <p:sp>
        <p:nvSpPr>
          <p:cNvPr id="24" name="Text 22"/>
          <p:cNvSpPr/>
          <p:nvPr/>
        </p:nvSpPr>
        <p:spPr>
          <a:xfrm>
            <a:off x="457200" y="4462272"/>
            <a:ext cx="1005840" cy="347472"/>
          </a:xfrm>
          <a:prstGeom prst="rect">
            <a:avLst/>
          </a:prstGeom>
          <a:noFill/>
          <a:ln/>
        </p:spPr>
        <p:txBody>
          <a:bodyPr wrap="square" lIns="0" tIns="0" rIns="0" bIns="0" rtlCol="0" anchor="ctr"/>
          <a:lstStyle/>
          <a:p>
            <a:pPr marL="0" indent="0">
              <a:buNone/>
            </a:pPr>
            <a:r>
              <a:rPr lang="en-US" sz="1000" b="1" dirty="0">
                <a:solidFill>
                  <a:srgbClr val="1B7A3E"/>
                </a:solidFill>
                <a:latin typeface="Calibri" pitchFamily="34" charset="0"/>
                <a:ea typeface="Calibri" pitchFamily="34" charset="-122"/>
                <a:cs typeface="Calibri" pitchFamily="34" charset="-120"/>
              </a:rPr>
              <a:t>• Seasons:</a:t>
            </a:r>
            <a:endParaRPr lang="en-US" sz="1000" dirty="0"/>
          </a:p>
        </p:txBody>
      </p:sp>
      <p:sp>
        <p:nvSpPr>
          <p:cNvPr id="25" name="Text 23"/>
          <p:cNvSpPr/>
          <p:nvPr/>
        </p:nvSpPr>
        <p:spPr>
          <a:xfrm>
            <a:off x="1463040" y="4462272"/>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Q4 surge (Nov–Dec): pre-load inventory; ramp marketing in Oct</a:t>
            </a:r>
            <a:endParaRPr lang="en-US" sz="1000" dirty="0"/>
          </a:p>
        </p:txBody>
      </p:sp>
      <p:sp>
        <p:nvSpPr>
          <p:cNvPr id="26" name="Shape 24"/>
          <p:cNvSpPr/>
          <p:nvPr/>
        </p:nvSpPr>
        <p:spPr>
          <a:xfrm>
            <a:off x="4617720" y="1207008"/>
            <a:ext cx="4206240" cy="384048"/>
          </a:xfrm>
          <a:prstGeom prst="rect">
            <a:avLst/>
          </a:prstGeom>
          <a:solidFill>
            <a:srgbClr val="C0392B"/>
          </a:solidFill>
          <a:ln/>
        </p:spPr>
        <p:txBody>
          <a:bodyPr/>
          <a:lstStyle/>
          <a:p>
            <a:endParaRPr lang="en-US"/>
          </a:p>
        </p:txBody>
      </p:sp>
      <p:sp>
        <p:nvSpPr>
          <p:cNvPr id="27" name="Text 25"/>
          <p:cNvSpPr/>
          <p:nvPr/>
        </p:nvSpPr>
        <p:spPr>
          <a:xfrm>
            <a:off x="4617720" y="1207008"/>
            <a:ext cx="42062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AVOID — REDUCE OR RESTRUCTURE</a:t>
            </a:r>
            <a:endParaRPr lang="en-US" sz="1300" dirty="0"/>
          </a:p>
        </p:txBody>
      </p:sp>
      <p:sp>
        <p:nvSpPr>
          <p:cNvPr id="28" name="Shape 26"/>
          <p:cNvSpPr/>
          <p:nvPr/>
        </p:nvSpPr>
        <p:spPr>
          <a:xfrm>
            <a:off x="4617720" y="1591056"/>
            <a:ext cx="4206240" cy="3364992"/>
          </a:xfrm>
          <a:prstGeom prst="rect">
            <a:avLst/>
          </a:prstGeom>
          <a:solidFill>
            <a:srgbClr val="FFF5F5"/>
          </a:solidFill>
          <a:ln w="12700">
            <a:solidFill>
              <a:srgbClr val="FEE2E2"/>
            </a:solidFill>
            <a:prstDash val="solid"/>
          </a:ln>
        </p:spPr>
        <p:txBody>
          <a:bodyPr/>
          <a:lstStyle/>
          <a:p>
            <a:endParaRPr lang="en-US"/>
          </a:p>
        </p:txBody>
      </p:sp>
      <p:sp>
        <p:nvSpPr>
          <p:cNvPr id="29" name="Text 27"/>
          <p:cNvSpPr/>
          <p:nvPr/>
        </p:nvSpPr>
        <p:spPr>
          <a:xfrm>
            <a:off x="4754880" y="1645920"/>
            <a:ext cx="1005840" cy="34747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Products:</a:t>
            </a:r>
            <a:endParaRPr lang="en-US" sz="1000" dirty="0"/>
          </a:p>
        </p:txBody>
      </p:sp>
      <p:sp>
        <p:nvSpPr>
          <p:cNvPr id="30" name="Text 28"/>
          <p:cNvSpPr/>
          <p:nvPr/>
        </p:nvSpPr>
        <p:spPr>
          <a:xfrm>
            <a:off x="5760720" y="1645920"/>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Tables, Bookcases, Fasteners, Supplies — chronic loss-makers</a:t>
            </a:r>
            <a:endParaRPr lang="en-US" sz="1000" dirty="0"/>
          </a:p>
        </p:txBody>
      </p:sp>
      <p:sp>
        <p:nvSpPr>
          <p:cNvPr id="31" name="Text 29"/>
          <p:cNvSpPr/>
          <p:nvPr/>
        </p:nvSpPr>
        <p:spPr>
          <a:xfrm>
            <a:off x="4754880" y="2048256"/>
            <a:ext cx="1005840" cy="34747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Discounts:</a:t>
            </a:r>
            <a:endParaRPr lang="en-US" sz="1000" dirty="0"/>
          </a:p>
        </p:txBody>
      </p:sp>
      <p:sp>
        <p:nvSpPr>
          <p:cNvPr id="32" name="Text 30"/>
          <p:cNvSpPr/>
          <p:nvPr/>
        </p:nvSpPr>
        <p:spPr>
          <a:xfrm>
            <a:off x="5760720" y="2048256"/>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Any discount &gt;30% — guaranteed margin erosion per order</a:t>
            </a:r>
            <a:endParaRPr lang="en-US" sz="1000" dirty="0"/>
          </a:p>
        </p:txBody>
      </p:sp>
      <p:sp>
        <p:nvSpPr>
          <p:cNvPr id="33" name="Text 31"/>
          <p:cNvSpPr/>
          <p:nvPr/>
        </p:nvSpPr>
        <p:spPr>
          <a:xfrm>
            <a:off x="4754880" y="2450592"/>
            <a:ext cx="1005840" cy="34747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Regions:</a:t>
            </a:r>
            <a:endParaRPr lang="en-US" sz="1000" dirty="0"/>
          </a:p>
        </p:txBody>
      </p:sp>
      <p:sp>
        <p:nvSpPr>
          <p:cNvPr id="34" name="Text 32"/>
          <p:cNvSpPr/>
          <p:nvPr/>
        </p:nvSpPr>
        <p:spPr>
          <a:xfrm>
            <a:off x="5760720" y="2450592"/>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Central region without margin analysis; low-profit density</a:t>
            </a:r>
            <a:endParaRPr lang="en-US" sz="1000" dirty="0"/>
          </a:p>
        </p:txBody>
      </p:sp>
      <p:sp>
        <p:nvSpPr>
          <p:cNvPr id="35" name="Text 33"/>
          <p:cNvSpPr/>
          <p:nvPr/>
        </p:nvSpPr>
        <p:spPr>
          <a:xfrm>
            <a:off x="4754880" y="2852928"/>
            <a:ext cx="1005840" cy="34747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Cities:</a:t>
            </a:r>
            <a:endParaRPr lang="en-US" sz="1000" dirty="0"/>
          </a:p>
        </p:txBody>
      </p:sp>
      <p:sp>
        <p:nvSpPr>
          <p:cNvPr id="36" name="Text 34"/>
          <p:cNvSpPr/>
          <p:nvPr/>
        </p:nvSpPr>
        <p:spPr>
          <a:xfrm>
            <a:off x="5760720" y="2852928"/>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Philadelphia, Houston — negative profit despite moderate volume</a:t>
            </a:r>
            <a:endParaRPr lang="en-US" sz="1000" dirty="0"/>
          </a:p>
        </p:txBody>
      </p:sp>
      <p:sp>
        <p:nvSpPr>
          <p:cNvPr id="37" name="Text 35"/>
          <p:cNvSpPr/>
          <p:nvPr/>
        </p:nvSpPr>
        <p:spPr>
          <a:xfrm>
            <a:off x="4754880" y="3255264"/>
            <a:ext cx="1005840" cy="34747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Segments:</a:t>
            </a:r>
            <a:endParaRPr lang="en-US" sz="1000" dirty="0"/>
          </a:p>
        </p:txBody>
      </p:sp>
      <p:sp>
        <p:nvSpPr>
          <p:cNvPr id="38" name="Text 36"/>
          <p:cNvSpPr/>
          <p:nvPr/>
        </p:nvSpPr>
        <p:spPr>
          <a:xfrm>
            <a:off x="5760720" y="3255264"/>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Blanket campaigns across all segments — use targeted approach</a:t>
            </a:r>
            <a:endParaRPr lang="en-US" sz="1000" dirty="0"/>
          </a:p>
        </p:txBody>
      </p:sp>
      <p:sp>
        <p:nvSpPr>
          <p:cNvPr id="39" name="Text 37"/>
          <p:cNvSpPr/>
          <p:nvPr/>
        </p:nvSpPr>
        <p:spPr>
          <a:xfrm>
            <a:off x="4754880" y="3657600"/>
            <a:ext cx="1005840" cy="34747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Seasons:</a:t>
            </a:r>
            <a:endParaRPr lang="en-US" sz="1000" dirty="0"/>
          </a:p>
        </p:txBody>
      </p:sp>
      <p:sp>
        <p:nvSpPr>
          <p:cNvPr id="40" name="Text 38"/>
          <p:cNvSpPr/>
          <p:nvPr/>
        </p:nvSpPr>
        <p:spPr>
          <a:xfrm>
            <a:off x="5760720" y="3657600"/>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Flat pricing in Q1–Q2 without promotional support</a:t>
            </a:r>
            <a:endParaRPr lang="en-US" sz="1000" dirty="0"/>
          </a:p>
        </p:txBody>
      </p:sp>
      <p:sp>
        <p:nvSpPr>
          <p:cNvPr id="41" name="Text 39"/>
          <p:cNvSpPr/>
          <p:nvPr/>
        </p:nvSpPr>
        <p:spPr>
          <a:xfrm>
            <a:off x="4754880" y="4059936"/>
            <a:ext cx="1005840" cy="34747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Shipping:</a:t>
            </a:r>
            <a:endParaRPr lang="en-US" sz="1000" dirty="0"/>
          </a:p>
        </p:txBody>
      </p:sp>
      <p:sp>
        <p:nvSpPr>
          <p:cNvPr id="42" name="Text 40"/>
          <p:cNvSpPr/>
          <p:nvPr/>
        </p:nvSpPr>
        <p:spPr>
          <a:xfrm>
            <a:off x="5760720" y="4059936"/>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Same Day for low-value orders — cost-to-revenue ratio too high</a:t>
            </a:r>
            <a:endParaRPr lang="en-US" sz="1000" dirty="0"/>
          </a:p>
        </p:txBody>
      </p:sp>
      <p:sp>
        <p:nvSpPr>
          <p:cNvPr id="43" name="Text 41"/>
          <p:cNvSpPr/>
          <p:nvPr/>
        </p:nvSpPr>
        <p:spPr>
          <a:xfrm>
            <a:off x="4754880" y="4462272"/>
            <a:ext cx="1005840" cy="34747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Stock:</a:t>
            </a:r>
            <a:endParaRPr lang="en-US" sz="1000" dirty="0"/>
          </a:p>
        </p:txBody>
      </p:sp>
      <p:sp>
        <p:nvSpPr>
          <p:cNvPr id="44" name="Text 42"/>
          <p:cNvSpPr/>
          <p:nvPr/>
        </p:nvSpPr>
        <p:spPr>
          <a:xfrm>
            <a:off x="5760720" y="4462272"/>
            <a:ext cx="2907792" cy="347472"/>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Overstocking Furniture in low-margin Central/South markets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3580"/>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FC220"/>
          </a:solidFill>
          <a:ln/>
        </p:spPr>
        <p:txBody>
          <a:bodyPr/>
          <a:lstStyle/>
          <a:p>
            <a:endParaRPr lang="en-US"/>
          </a:p>
        </p:txBody>
      </p:sp>
      <p:sp>
        <p:nvSpPr>
          <p:cNvPr id="3" name="Shape 1"/>
          <p:cNvSpPr/>
          <p:nvPr/>
        </p:nvSpPr>
        <p:spPr>
          <a:xfrm>
            <a:off x="6858000" y="2926080"/>
            <a:ext cx="2926080" cy="2926080"/>
          </a:xfrm>
          <a:prstGeom prst="ellipse">
            <a:avLst/>
          </a:prstGeom>
          <a:solidFill>
            <a:srgbClr val="0D7AB5">
              <a:alpha val="25000"/>
            </a:srgbClr>
          </a:solidFill>
          <a:ln/>
        </p:spPr>
        <p:txBody>
          <a:bodyPr/>
          <a:lstStyle/>
          <a:p>
            <a:endParaRPr lang="en-US"/>
          </a:p>
        </p:txBody>
      </p:sp>
      <p:sp>
        <p:nvSpPr>
          <p:cNvPr id="4" name="Text 2"/>
          <p:cNvSpPr/>
          <p:nvPr/>
        </p:nvSpPr>
        <p:spPr>
          <a:xfrm>
            <a:off x="457200" y="347472"/>
            <a:ext cx="8229600" cy="347472"/>
          </a:xfrm>
          <a:prstGeom prst="rect">
            <a:avLst/>
          </a:prstGeom>
          <a:noFill/>
          <a:ln/>
        </p:spPr>
        <p:txBody>
          <a:bodyPr wrap="square" rtlCol="0" anchor="ctr"/>
          <a:lstStyle/>
          <a:p>
            <a:pPr marL="0" indent="0">
              <a:buNone/>
            </a:pPr>
            <a:r>
              <a:rPr lang="en-US" sz="1100" b="1" kern="0" spc="400" dirty="0">
                <a:solidFill>
                  <a:srgbClr val="FFC220"/>
                </a:solidFill>
                <a:latin typeface="Calibri" pitchFamily="34" charset="0"/>
                <a:ea typeface="Calibri" pitchFamily="34" charset="-122"/>
                <a:cs typeface="Calibri" pitchFamily="34" charset="-120"/>
              </a:rPr>
              <a:t>CONCLUSION &amp; NEXT STEPS</a:t>
            </a:r>
            <a:endParaRPr lang="en-US" sz="1100" dirty="0"/>
          </a:p>
        </p:txBody>
      </p:sp>
      <p:sp>
        <p:nvSpPr>
          <p:cNvPr id="5" name="Shape 3"/>
          <p:cNvSpPr/>
          <p:nvPr/>
        </p:nvSpPr>
        <p:spPr>
          <a:xfrm>
            <a:off x="457200" y="914400"/>
            <a:ext cx="365760" cy="365760"/>
          </a:xfrm>
          <a:prstGeom prst="ellipse">
            <a:avLst/>
          </a:prstGeom>
          <a:solidFill>
            <a:srgbClr val="FFC220"/>
          </a:solidFill>
          <a:ln/>
        </p:spPr>
        <p:txBody>
          <a:bodyPr/>
          <a:lstStyle/>
          <a:p>
            <a:endParaRPr lang="en-US"/>
          </a:p>
        </p:txBody>
      </p:sp>
      <p:sp>
        <p:nvSpPr>
          <p:cNvPr id="6" name="Text 4"/>
          <p:cNvSpPr/>
          <p:nvPr/>
        </p:nvSpPr>
        <p:spPr>
          <a:xfrm>
            <a:off x="457200" y="914400"/>
            <a:ext cx="365760" cy="365760"/>
          </a:xfrm>
          <a:prstGeom prst="rect">
            <a:avLst/>
          </a:prstGeom>
          <a:noFill/>
          <a:ln/>
        </p:spPr>
        <p:txBody>
          <a:bodyPr wrap="square" lIns="0" tIns="0" rIns="0" bIns="0" rtlCol="0" anchor="ctr"/>
          <a:lstStyle/>
          <a:p>
            <a:pPr marL="0" indent="0" algn="ctr">
              <a:buNone/>
            </a:pPr>
            <a:r>
              <a:rPr lang="en-US" sz="1300" b="1" dirty="0">
                <a:solidFill>
                  <a:srgbClr val="0D3580"/>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960120" y="822960"/>
            <a:ext cx="6858000" cy="274320"/>
          </a:xfrm>
          <a:prstGeom prst="rect">
            <a:avLst/>
          </a:prstGeom>
          <a:noFill/>
          <a:ln/>
        </p:spPr>
        <p:txBody>
          <a:bodyPr wrap="square" lIns="0" tIns="0" rIns="0" bIns="0" rtlCol="0" anchor="ctr"/>
          <a:lstStyle/>
          <a:p>
            <a:pPr marL="0" indent="0">
              <a:buNone/>
            </a:pPr>
            <a:r>
              <a:rPr lang="en-US" sz="1300" b="1" dirty="0">
                <a:solidFill>
                  <a:srgbClr val="FFC220"/>
                </a:solidFill>
                <a:latin typeface="Calibri" pitchFamily="34" charset="0"/>
                <a:ea typeface="Calibri" pitchFamily="34" charset="-122"/>
                <a:cs typeface="Calibri" pitchFamily="34" charset="-120"/>
              </a:rPr>
              <a:t>Technology is Walmart's revenue engine</a:t>
            </a:r>
            <a:endParaRPr lang="en-US" sz="1300" dirty="0"/>
          </a:p>
        </p:txBody>
      </p:sp>
      <p:sp>
        <p:nvSpPr>
          <p:cNvPr id="8" name="Text 6"/>
          <p:cNvSpPr/>
          <p:nvPr/>
        </p:nvSpPr>
        <p:spPr>
          <a:xfrm>
            <a:off x="960120" y="1097280"/>
            <a:ext cx="6858000" cy="493776"/>
          </a:xfrm>
          <a:prstGeom prst="rect">
            <a:avLst/>
          </a:prstGeom>
          <a:noFill/>
          <a:ln/>
        </p:spPr>
        <p:txBody>
          <a:bodyPr wrap="square" lIns="0" tIns="0" rIns="0" bIns="0" rtlCol="0" anchor="ctr"/>
          <a:lstStyle/>
          <a:p>
            <a:pPr marL="0" indent="0">
              <a:buNone/>
            </a:pPr>
            <a:r>
              <a:rPr lang="en-US" sz="1050" dirty="0">
                <a:solidFill>
                  <a:srgbClr val="AABDE0"/>
                </a:solidFill>
                <a:latin typeface="Calibri" pitchFamily="34" charset="0"/>
                <a:ea typeface="Calibri" pitchFamily="34" charset="-122"/>
                <a:cs typeface="Calibri" pitchFamily="34" charset="-120"/>
              </a:rPr>
              <a:t>Phones and Machines alone drive 33%+ of Technology revenue. Sustained investment in this category yields the highest ROI.</a:t>
            </a:r>
            <a:endParaRPr lang="en-US" sz="1050" dirty="0"/>
          </a:p>
        </p:txBody>
      </p:sp>
      <p:sp>
        <p:nvSpPr>
          <p:cNvPr id="9" name="Shape 7"/>
          <p:cNvSpPr/>
          <p:nvPr/>
        </p:nvSpPr>
        <p:spPr>
          <a:xfrm>
            <a:off x="457200" y="1737360"/>
            <a:ext cx="365760" cy="365760"/>
          </a:xfrm>
          <a:prstGeom prst="ellipse">
            <a:avLst/>
          </a:prstGeom>
          <a:solidFill>
            <a:srgbClr val="FFC220"/>
          </a:solidFill>
          <a:ln/>
        </p:spPr>
        <p:txBody>
          <a:bodyPr/>
          <a:lstStyle/>
          <a:p>
            <a:endParaRPr lang="en-US"/>
          </a:p>
        </p:txBody>
      </p:sp>
      <p:sp>
        <p:nvSpPr>
          <p:cNvPr id="10" name="Text 8"/>
          <p:cNvSpPr/>
          <p:nvPr/>
        </p:nvSpPr>
        <p:spPr>
          <a:xfrm>
            <a:off x="457200" y="1737360"/>
            <a:ext cx="365760" cy="365760"/>
          </a:xfrm>
          <a:prstGeom prst="rect">
            <a:avLst/>
          </a:prstGeom>
          <a:noFill/>
          <a:ln/>
        </p:spPr>
        <p:txBody>
          <a:bodyPr wrap="square" lIns="0" tIns="0" rIns="0" bIns="0" rtlCol="0" anchor="ctr"/>
          <a:lstStyle/>
          <a:p>
            <a:pPr marL="0" indent="0" algn="ctr">
              <a:buNone/>
            </a:pPr>
            <a:r>
              <a:rPr lang="en-US" sz="1300" b="1" dirty="0">
                <a:solidFill>
                  <a:srgbClr val="0D3580"/>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960120" y="1645920"/>
            <a:ext cx="6858000" cy="274320"/>
          </a:xfrm>
          <a:prstGeom prst="rect">
            <a:avLst/>
          </a:prstGeom>
          <a:noFill/>
          <a:ln/>
        </p:spPr>
        <p:txBody>
          <a:bodyPr wrap="square" lIns="0" tIns="0" rIns="0" bIns="0" rtlCol="0" anchor="ctr"/>
          <a:lstStyle/>
          <a:p>
            <a:pPr marL="0" indent="0">
              <a:buNone/>
            </a:pPr>
            <a:r>
              <a:rPr lang="en-US" sz="1300" b="1" dirty="0">
                <a:solidFill>
                  <a:srgbClr val="FFC220"/>
                </a:solidFill>
                <a:latin typeface="Calibri" pitchFamily="34" charset="0"/>
                <a:ea typeface="Calibri" pitchFamily="34" charset="-122"/>
                <a:cs typeface="Calibri" pitchFamily="34" charset="-120"/>
              </a:rPr>
              <a:t>Consumer segment demands precision</a:t>
            </a:r>
            <a:endParaRPr lang="en-US" sz="1300" dirty="0"/>
          </a:p>
        </p:txBody>
      </p:sp>
      <p:sp>
        <p:nvSpPr>
          <p:cNvPr id="12" name="Text 10"/>
          <p:cNvSpPr/>
          <p:nvPr/>
        </p:nvSpPr>
        <p:spPr>
          <a:xfrm>
            <a:off x="960120" y="1920240"/>
            <a:ext cx="6858000" cy="493776"/>
          </a:xfrm>
          <a:prstGeom prst="rect">
            <a:avLst/>
          </a:prstGeom>
          <a:noFill/>
          <a:ln/>
        </p:spPr>
        <p:txBody>
          <a:bodyPr wrap="square" lIns="0" tIns="0" rIns="0" bIns="0" rtlCol="0" anchor="ctr"/>
          <a:lstStyle/>
          <a:p>
            <a:pPr marL="0" indent="0">
              <a:buNone/>
            </a:pPr>
            <a:r>
              <a:rPr lang="en-US" sz="1050" dirty="0">
                <a:solidFill>
                  <a:srgbClr val="AABDE0"/>
                </a:solidFill>
                <a:latin typeface="Calibri" pitchFamily="34" charset="0"/>
                <a:ea typeface="Calibri" pitchFamily="34" charset="-122"/>
                <a:cs typeface="Calibri" pitchFamily="34" charset="-120"/>
              </a:rPr>
              <a:t>51% revenue share but thin margins. Loyalty programs and targeted (not blanket) promotions are essential to sustain profitability.</a:t>
            </a:r>
            <a:endParaRPr lang="en-US" sz="1050" dirty="0"/>
          </a:p>
        </p:txBody>
      </p:sp>
      <p:sp>
        <p:nvSpPr>
          <p:cNvPr id="13" name="Shape 11"/>
          <p:cNvSpPr/>
          <p:nvPr/>
        </p:nvSpPr>
        <p:spPr>
          <a:xfrm>
            <a:off x="457200" y="2560320"/>
            <a:ext cx="365760" cy="365760"/>
          </a:xfrm>
          <a:prstGeom prst="ellipse">
            <a:avLst/>
          </a:prstGeom>
          <a:solidFill>
            <a:srgbClr val="FFC220"/>
          </a:solidFill>
          <a:ln/>
        </p:spPr>
        <p:txBody>
          <a:bodyPr/>
          <a:lstStyle/>
          <a:p>
            <a:endParaRPr lang="en-US"/>
          </a:p>
        </p:txBody>
      </p:sp>
      <p:sp>
        <p:nvSpPr>
          <p:cNvPr id="14" name="Text 12"/>
          <p:cNvSpPr/>
          <p:nvPr/>
        </p:nvSpPr>
        <p:spPr>
          <a:xfrm>
            <a:off x="457200" y="2560320"/>
            <a:ext cx="365760" cy="365760"/>
          </a:xfrm>
          <a:prstGeom prst="rect">
            <a:avLst/>
          </a:prstGeom>
          <a:noFill/>
          <a:ln/>
        </p:spPr>
        <p:txBody>
          <a:bodyPr wrap="square" lIns="0" tIns="0" rIns="0" bIns="0" rtlCol="0" anchor="ctr"/>
          <a:lstStyle/>
          <a:p>
            <a:pPr marL="0" indent="0" algn="ctr">
              <a:buNone/>
            </a:pPr>
            <a:r>
              <a:rPr lang="en-US" sz="1300" b="1" dirty="0">
                <a:solidFill>
                  <a:srgbClr val="0D3580"/>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960120" y="2468880"/>
            <a:ext cx="6858000" cy="274320"/>
          </a:xfrm>
          <a:prstGeom prst="rect">
            <a:avLst/>
          </a:prstGeom>
          <a:noFill/>
          <a:ln/>
        </p:spPr>
        <p:txBody>
          <a:bodyPr wrap="square" lIns="0" tIns="0" rIns="0" bIns="0" rtlCol="0" anchor="ctr"/>
          <a:lstStyle/>
          <a:p>
            <a:pPr marL="0" indent="0">
              <a:buNone/>
            </a:pPr>
            <a:r>
              <a:rPr lang="en-US" sz="1300" b="1" dirty="0">
                <a:solidFill>
                  <a:srgbClr val="FFC220"/>
                </a:solidFill>
                <a:latin typeface="Calibri" pitchFamily="34" charset="0"/>
                <a:ea typeface="Calibri" pitchFamily="34" charset="-122"/>
                <a:cs typeface="Calibri" pitchFamily="34" charset="-120"/>
              </a:rPr>
              <a:t>Geography is destiny</a:t>
            </a:r>
            <a:endParaRPr lang="en-US" sz="1300" dirty="0"/>
          </a:p>
        </p:txBody>
      </p:sp>
      <p:sp>
        <p:nvSpPr>
          <p:cNvPr id="16" name="Text 14"/>
          <p:cNvSpPr/>
          <p:nvPr/>
        </p:nvSpPr>
        <p:spPr>
          <a:xfrm>
            <a:off x="960120" y="2743200"/>
            <a:ext cx="6858000" cy="493776"/>
          </a:xfrm>
          <a:prstGeom prst="rect">
            <a:avLst/>
          </a:prstGeom>
          <a:noFill/>
          <a:ln/>
        </p:spPr>
        <p:txBody>
          <a:bodyPr wrap="square" lIns="0" tIns="0" rIns="0" bIns="0" rtlCol="0" anchor="ctr"/>
          <a:lstStyle/>
          <a:p>
            <a:pPr marL="0" indent="0">
              <a:buNone/>
            </a:pPr>
            <a:r>
              <a:rPr lang="en-US" sz="1050" dirty="0">
                <a:solidFill>
                  <a:srgbClr val="AABDE0"/>
                </a:solidFill>
                <a:latin typeface="Calibri" pitchFamily="34" charset="0"/>
                <a:ea typeface="Calibri" pitchFamily="34" charset="-122"/>
                <a:cs typeface="Calibri" pitchFamily="34" charset="-120"/>
              </a:rPr>
              <a:t>The West coast drives disproportionate value. Central and South markets require margin audits before further capital deployment.</a:t>
            </a:r>
            <a:endParaRPr lang="en-US" sz="1050" dirty="0"/>
          </a:p>
        </p:txBody>
      </p:sp>
      <p:sp>
        <p:nvSpPr>
          <p:cNvPr id="17" name="Shape 15"/>
          <p:cNvSpPr/>
          <p:nvPr/>
        </p:nvSpPr>
        <p:spPr>
          <a:xfrm>
            <a:off x="457200" y="3383280"/>
            <a:ext cx="365760" cy="365760"/>
          </a:xfrm>
          <a:prstGeom prst="ellipse">
            <a:avLst/>
          </a:prstGeom>
          <a:solidFill>
            <a:srgbClr val="FFC220"/>
          </a:solidFill>
          <a:ln/>
        </p:spPr>
        <p:txBody>
          <a:bodyPr/>
          <a:lstStyle/>
          <a:p>
            <a:endParaRPr lang="en-US"/>
          </a:p>
        </p:txBody>
      </p:sp>
      <p:sp>
        <p:nvSpPr>
          <p:cNvPr id="18" name="Text 16"/>
          <p:cNvSpPr/>
          <p:nvPr/>
        </p:nvSpPr>
        <p:spPr>
          <a:xfrm>
            <a:off x="457200" y="3383280"/>
            <a:ext cx="365760" cy="365760"/>
          </a:xfrm>
          <a:prstGeom prst="rect">
            <a:avLst/>
          </a:prstGeom>
          <a:noFill/>
          <a:ln/>
        </p:spPr>
        <p:txBody>
          <a:bodyPr wrap="square" lIns="0" tIns="0" rIns="0" bIns="0" rtlCol="0" anchor="ctr"/>
          <a:lstStyle/>
          <a:p>
            <a:pPr marL="0" indent="0" algn="ctr">
              <a:buNone/>
            </a:pPr>
            <a:r>
              <a:rPr lang="en-US" sz="1300" b="1" dirty="0">
                <a:solidFill>
                  <a:srgbClr val="0D3580"/>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960120" y="3291840"/>
            <a:ext cx="6858000" cy="274320"/>
          </a:xfrm>
          <a:prstGeom prst="rect">
            <a:avLst/>
          </a:prstGeom>
          <a:noFill/>
          <a:ln/>
        </p:spPr>
        <p:txBody>
          <a:bodyPr wrap="square" lIns="0" tIns="0" rIns="0" bIns="0" rtlCol="0" anchor="ctr"/>
          <a:lstStyle/>
          <a:p>
            <a:pPr marL="0" indent="0">
              <a:buNone/>
            </a:pPr>
            <a:r>
              <a:rPr lang="en-US" sz="1300" b="1" dirty="0">
                <a:solidFill>
                  <a:srgbClr val="FFC220"/>
                </a:solidFill>
                <a:latin typeface="Calibri" pitchFamily="34" charset="0"/>
                <a:ea typeface="Calibri" pitchFamily="34" charset="-122"/>
                <a:cs typeface="Calibri" pitchFamily="34" charset="-120"/>
              </a:rPr>
              <a:t>Discounts are a double-edged sword</a:t>
            </a:r>
            <a:endParaRPr lang="en-US" sz="1300" dirty="0"/>
          </a:p>
        </p:txBody>
      </p:sp>
      <p:sp>
        <p:nvSpPr>
          <p:cNvPr id="20" name="Text 18"/>
          <p:cNvSpPr/>
          <p:nvPr/>
        </p:nvSpPr>
        <p:spPr>
          <a:xfrm>
            <a:off x="960120" y="3566160"/>
            <a:ext cx="6858000" cy="493776"/>
          </a:xfrm>
          <a:prstGeom prst="rect">
            <a:avLst/>
          </a:prstGeom>
          <a:noFill/>
          <a:ln/>
        </p:spPr>
        <p:txBody>
          <a:bodyPr wrap="square" lIns="0" tIns="0" rIns="0" bIns="0" rtlCol="0" anchor="ctr"/>
          <a:lstStyle/>
          <a:p>
            <a:pPr marL="0" indent="0">
              <a:buNone/>
            </a:pPr>
            <a:r>
              <a:rPr lang="en-US" sz="1050" dirty="0">
                <a:solidFill>
                  <a:srgbClr val="AABDE0"/>
                </a:solidFill>
                <a:latin typeface="Calibri" pitchFamily="34" charset="0"/>
                <a:ea typeface="Calibri" pitchFamily="34" charset="-122"/>
                <a:cs typeface="Calibri" pitchFamily="34" charset="-120"/>
              </a:rPr>
              <a:t>Every 10% discount above 20% erodes profit by an estimated 15–20%. A strict discount governance policy should be implemented immediately.</a:t>
            </a:r>
            <a:endParaRPr lang="en-US" sz="1050" dirty="0"/>
          </a:p>
        </p:txBody>
      </p:sp>
      <p:sp>
        <p:nvSpPr>
          <p:cNvPr id="21" name="Shape 19"/>
          <p:cNvSpPr/>
          <p:nvPr/>
        </p:nvSpPr>
        <p:spPr>
          <a:xfrm>
            <a:off x="457200" y="4206240"/>
            <a:ext cx="365760" cy="365760"/>
          </a:xfrm>
          <a:prstGeom prst="ellipse">
            <a:avLst/>
          </a:prstGeom>
          <a:solidFill>
            <a:srgbClr val="FFC220"/>
          </a:solidFill>
          <a:ln/>
        </p:spPr>
        <p:txBody>
          <a:bodyPr/>
          <a:lstStyle/>
          <a:p>
            <a:endParaRPr lang="en-US"/>
          </a:p>
        </p:txBody>
      </p:sp>
      <p:sp>
        <p:nvSpPr>
          <p:cNvPr id="22" name="Text 20"/>
          <p:cNvSpPr/>
          <p:nvPr/>
        </p:nvSpPr>
        <p:spPr>
          <a:xfrm>
            <a:off x="457200" y="4206240"/>
            <a:ext cx="365760" cy="365760"/>
          </a:xfrm>
          <a:prstGeom prst="rect">
            <a:avLst/>
          </a:prstGeom>
          <a:noFill/>
          <a:ln/>
        </p:spPr>
        <p:txBody>
          <a:bodyPr wrap="square" lIns="0" tIns="0" rIns="0" bIns="0" rtlCol="0" anchor="ctr"/>
          <a:lstStyle/>
          <a:p>
            <a:pPr marL="0" indent="0" algn="ctr">
              <a:buNone/>
            </a:pPr>
            <a:r>
              <a:rPr lang="en-US" sz="1300" b="1" dirty="0">
                <a:solidFill>
                  <a:srgbClr val="0D3580"/>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960120" y="4114800"/>
            <a:ext cx="6858000" cy="274320"/>
          </a:xfrm>
          <a:prstGeom prst="rect">
            <a:avLst/>
          </a:prstGeom>
          <a:noFill/>
          <a:ln/>
        </p:spPr>
        <p:txBody>
          <a:bodyPr wrap="square" lIns="0" tIns="0" rIns="0" bIns="0" rtlCol="0" anchor="ctr"/>
          <a:lstStyle/>
          <a:p>
            <a:pPr marL="0" indent="0">
              <a:buNone/>
            </a:pPr>
            <a:r>
              <a:rPr lang="en-US" sz="1300" b="1" dirty="0">
                <a:solidFill>
                  <a:srgbClr val="FFC220"/>
                </a:solidFill>
                <a:latin typeface="Calibri" pitchFamily="34" charset="0"/>
                <a:ea typeface="Calibri" pitchFamily="34" charset="-122"/>
                <a:cs typeface="Calibri" pitchFamily="34" charset="-120"/>
              </a:rPr>
              <a:t>Q4 seasonality is predictable — and exploitable</a:t>
            </a:r>
            <a:endParaRPr lang="en-US" sz="1300" dirty="0"/>
          </a:p>
        </p:txBody>
      </p:sp>
      <p:sp>
        <p:nvSpPr>
          <p:cNvPr id="24" name="Text 22"/>
          <p:cNvSpPr/>
          <p:nvPr/>
        </p:nvSpPr>
        <p:spPr>
          <a:xfrm>
            <a:off x="960120" y="4389120"/>
            <a:ext cx="6858000" cy="493776"/>
          </a:xfrm>
          <a:prstGeom prst="rect">
            <a:avLst/>
          </a:prstGeom>
          <a:noFill/>
          <a:ln/>
        </p:spPr>
        <p:txBody>
          <a:bodyPr wrap="square" lIns="0" tIns="0" rIns="0" bIns="0" rtlCol="0" anchor="ctr"/>
          <a:lstStyle/>
          <a:p>
            <a:pPr marL="0" indent="0">
              <a:buNone/>
            </a:pPr>
            <a:r>
              <a:rPr lang="en-US" sz="1050" dirty="0">
                <a:solidFill>
                  <a:srgbClr val="AABDE0"/>
                </a:solidFill>
                <a:latin typeface="Calibri" pitchFamily="34" charset="0"/>
                <a:ea typeface="Calibri" pitchFamily="34" charset="-122"/>
                <a:cs typeface="Calibri" pitchFamily="34" charset="-120"/>
              </a:rPr>
              <a:t>Sales consistently peak in November–December. A 90-day pre-Q4 inventory ramp-up can significantly outperform flat stocking strategies.</a:t>
            </a:r>
            <a:endParaRPr lang="en-US" sz="1050" dirty="0"/>
          </a:p>
        </p:txBody>
      </p:sp>
      <p:sp>
        <p:nvSpPr>
          <p:cNvPr id="25" name="Text 23"/>
          <p:cNvSpPr/>
          <p:nvPr/>
        </p:nvSpPr>
        <p:spPr>
          <a:xfrm>
            <a:off x="457200" y="4773168"/>
            <a:ext cx="8229600" cy="256032"/>
          </a:xfrm>
          <a:prstGeom prst="rect">
            <a:avLst/>
          </a:prstGeom>
          <a:noFill/>
          <a:ln/>
        </p:spPr>
        <p:txBody>
          <a:bodyPr wrap="square" rtlCol="0" anchor="ctr"/>
          <a:lstStyle/>
          <a:p>
            <a:pPr marL="0" indent="0">
              <a:buNone/>
            </a:pPr>
            <a:r>
              <a:rPr lang="en-US" sz="950" i="1" dirty="0">
                <a:solidFill>
                  <a:srgbClr val="FFC220"/>
                </a:solidFill>
                <a:latin typeface="Calibri" pitchFamily="34" charset="0"/>
                <a:ea typeface="Calibri" pitchFamily="34" charset="-122"/>
                <a:cs typeface="Calibri" pitchFamily="34" charset="-120"/>
              </a:rPr>
              <a:t>Next Steps: Implement Power BI dashboard for live monitoring  ·  Pilot discount cap policy in Central region  ·  Launch Corporate loyalty program in Q3</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D2E"/>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FFC220"/>
          </a:solidFill>
          <a:ln/>
        </p:spPr>
        <p:txBody>
          <a:bodyPr/>
          <a:lstStyle/>
          <a:p>
            <a:endParaRPr lang="en-US"/>
          </a:p>
        </p:txBody>
      </p:sp>
      <p:sp>
        <p:nvSpPr>
          <p:cNvPr id="3" name="Shape 1"/>
          <p:cNvSpPr/>
          <p:nvPr/>
        </p:nvSpPr>
        <p:spPr>
          <a:xfrm>
            <a:off x="6217920" y="-731520"/>
            <a:ext cx="3840480" cy="3840480"/>
          </a:xfrm>
          <a:prstGeom prst="ellipse">
            <a:avLst/>
          </a:prstGeom>
          <a:solidFill>
            <a:srgbClr val="0D3580">
              <a:alpha val="60000"/>
            </a:srgbClr>
          </a:solidFill>
          <a:ln/>
        </p:spPr>
        <p:txBody>
          <a:bodyPr/>
          <a:lstStyle/>
          <a:p>
            <a:endParaRPr lang="en-US"/>
          </a:p>
        </p:txBody>
      </p:sp>
      <p:sp>
        <p:nvSpPr>
          <p:cNvPr id="4" name="Shape 2"/>
          <p:cNvSpPr/>
          <p:nvPr/>
        </p:nvSpPr>
        <p:spPr>
          <a:xfrm>
            <a:off x="6858000" y="2743200"/>
            <a:ext cx="2560320" cy="2560320"/>
          </a:xfrm>
          <a:prstGeom prst="ellipse">
            <a:avLst/>
          </a:prstGeom>
          <a:solidFill>
            <a:srgbClr val="0D7AB5">
              <a:alpha val="45000"/>
            </a:srgbClr>
          </a:solidFill>
          <a:ln/>
        </p:spPr>
        <p:txBody>
          <a:bodyPr/>
          <a:lstStyle/>
          <a:p>
            <a:endParaRPr lang="en-US"/>
          </a:p>
        </p:txBody>
      </p:sp>
      <p:sp>
        <p:nvSpPr>
          <p:cNvPr id="5" name="Text 3"/>
          <p:cNvSpPr/>
          <p:nvPr/>
        </p:nvSpPr>
        <p:spPr>
          <a:xfrm>
            <a:off x="594360" y="548640"/>
            <a:ext cx="7315200" cy="1005840"/>
          </a:xfrm>
          <a:prstGeom prst="rect">
            <a:avLst/>
          </a:prstGeom>
          <a:noFill/>
          <a:ln/>
        </p:spPr>
        <p:txBody>
          <a:bodyPr wrap="square" rtlCol="0" anchor="ctr"/>
          <a:lstStyle/>
          <a:p>
            <a:pPr marL="0" indent="0" algn="l">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6" name="Text 4"/>
          <p:cNvSpPr/>
          <p:nvPr/>
        </p:nvSpPr>
        <p:spPr>
          <a:xfrm>
            <a:off x="594360" y="1554480"/>
            <a:ext cx="6400800" cy="502920"/>
          </a:xfrm>
          <a:prstGeom prst="rect">
            <a:avLst/>
          </a:prstGeom>
          <a:noFill/>
          <a:ln/>
        </p:spPr>
        <p:txBody>
          <a:bodyPr wrap="square" rtlCol="0" anchor="ctr"/>
          <a:lstStyle/>
          <a:p>
            <a:pPr marL="0" indent="0">
              <a:buNone/>
            </a:pPr>
            <a:r>
              <a:rPr lang="en-US" sz="2200" i="1" dirty="0">
                <a:solidFill>
                  <a:srgbClr val="FFC220"/>
                </a:solidFill>
                <a:latin typeface="Calibri" pitchFamily="34" charset="0"/>
                <a:ea typeface="Calibri" pitchFamily="34" charset="-122"/>
                <a:cs typeface="Calibri" pitchFamily="34" charset="-120"/>
              </a:rPr>
              <a:t>Questions &amp; Discussion</a:t>
            </a:r>
            <a:endParaRPr lang="en-US" sz="2200" dirty="0"/>
          </a:p>
        </p:txBody>
      </p:sp>
      <p:sp>
        <p:nvSpPr>
          <p:cNvPr id="7" name="Shape 5"/>
          <p:cNvSpPr/>
          <p:nvPr/>
        </p:nvSpPr>
        <p:spPr>
          <a:xfrm>
            <a:off x="594360" y="2148840"/>
            <a:ext cx="5029200" cy="36576"/>
          </a:xfrm>
          <a:prstGeom prst="rect">
            <a:avLst/>
          </a:prstGeom>
          <a:solidFill>
            <a:srgbClr val="0D7AB5"/>
          </a:solidFill>
          <a:ln/>
        </p:spPr>
        <p:txBody>
          <a:bodyPr/>
          <a:lstStyle/>
          <a:p>
            <a:endParaRPr lang="en-US"/>
          </a:p>
        </p:txBody>
      </p:sp>
      <p:sp>
        <p:nvSpPr>
          <p:cNvPr id="8" name="Text 6"/>
          <p:cNvSpPr/>
          <p:nvPr/>
        </p:nvSpPr>
        <p:spPr>
          <a:xfrm>
            <a:off x="594360" y="2286000"/>
            <a:ext cx="7315200" cy="530352"/>
          </a:xfrm>
          <a:prstGeom prst="rect">
            <a:avLst/>
          </a:prstGeom>
          <a:noFill/>
          <a:ln/>
        </p:spPr>
        <p:txBody>
          <a:bodyPr wrap="square" rtlCol="0" anchor="ctr"/>
          <a:lstStyle/>
          <a:p>
            <a:pPr marL="0" indent="0">
              <a:buNone/>
            </a:pPr>
            <a:r>
              <a:rPr lang="en-US" sz="1250" dirty="0">
                <a:solidFill>
                  <a:srgbClr val="AABDE0"/>
                </a:solidFill>
                <a:latin typeface="Calibri" pitchFamily="34" charset="0"/>
                <a:ea typeface="Calibri" pitchFamily="34" charset="-122"/>
                <a:cs typeface="Calibri" pitchFamily="34" charset="-120"/>
              </a:rPr>
              <a:t>We welcome any questions about our methodology, findings, or strategic recommendations. All analysis code is available on request.</a:t>
            </a:r>
            <a:endParaRPr lang="en-US" sz="1250" dirty="0"/>
          </a:p>
        </p:txBody>
      </p:sp>
      <p:sp>
        <p:nvSpPr>
          <p:cNvPr id="9" name="Shape 7"/>
          <p:cNvSpPr/>
          <p:nvPr/>
        </p:nvSpPr>
        <p:spPr>
          <a:xfrm>
            <a:off x="594360" y="2926080"/>
            <a:ext cx="7315200" cy="1783080"/>
          </a:xfrm>
          <a:prstGeom prst="rect">
            <a:avLst/>
          </a:prstGeom>
          <a:solidFill>
            <a:srgbClr val="0D3580">
              <a:alpha val="70000"/>
            </a:srgbClr>
          </a:solidFill>
          <a:ln w="12700">
            <a:solidFill>
              <a:srgbClr val="FFC220"/>
            </a:solidFill>
            <a:prstDash val="solid"/>
          </a:ln>
        </p:spPr>
        <p:txBody>
          <a:bodyPr/>
          <a:lstStyle/>
          <a:p>
            <a:endParaRPr lang="en-US"/>
          </a:p>
        </p:txBody>
      </p:sp>
      <p:sp>
        <p:nvSpPr>
          <p:cNvPr id="10" name="Text 8"/>
          <p:cNvSpPr/>
          <p:nvPr/>
        </p:nvSpPr>
        <p:spPr>
          <a:xfrm>
            <a:off x="713232" y="2999232"/>
            <a:ext cx="7040880" cy="292608"/>
          </a:xfrm>
          <a:prstGeom prst="rect">
            <a:avLst/>
          </a:prstGeom>
          <a:noFill/>
          <a:ln/>
        </p:spPr>
        <p:txBody>
          <a:bodyPr wrap="square" rtlCol="0" anchor="ctr"/>
          <a:lstStyle/>
          <a:p>
            <a:pPr marL="0" indent="0">
              <a:buNone/>
            </a:pPr>
            <a:r>
              <a:rPr lang="en-US" sz="1200" b="1" dirty="0">
                <a:solidFill>
                  <a:srgbClr val="FFC220"/>
                </a:solidFill>
                <a:latin typeface="Calibri" pitchFamily="34" charset="0"/>
                <a:ea typeface="Calibri" pitchFamily="34" charset="-122"/>
                <a:cs typeface="Calibri" pitchFamily="34" charset="-120"/>
              </a:rPr>
              <a:t>Group Contribution Statement</a:t>
            </a:r>
            <a:endParaRPr lang="en-US" sz="1200" dirty="0"/>
          </a:p>
        </p:txBody>
      </p:sp>
      <p:sp>
        <p:nvSpPr>
          <p:cNvPr id="11" name="Text 9"/>
          <p:cNvSpPr/>
          <p:nvPr/>
        </p:nvSpPr>
        <p:spPr>
          <a:xfrm>
            <a:off x="713232" y="3310128"/>
            <a:ext cx="7040880" cy="1261872"/>
          </a:xfrm>
          <a:prstGeom prst="rect">
            <a:avLst/>
          </a:prstGeom>
          <a:noFill/>
          <a:ln/>
        </p:spPr>
        <p:txBody>
          <a:bodyPr wrap="square" rtlCol="0" anchor="ctr"/>
          <a:lstStyle/>
          <a:p>
            <a:pPr marL="0" indent="0">
              <a:buNone/>
            </a:pPr>
            <a:r>
              <a:rPr lang="en-US" sz="1050" dirty="0">
                <a:solidFill>
                  <a:srgbClr val="AABDE0"/>
                </a:solidFill>
                <a:latin typeface="Calibri" pitchFamily="34" charset="0"/>
                <a:ea typeface="Calibri" pitchFamily="34" charset="-122"/>
                <a:cs typeface="Calibri" pitchFamily="34" charset="-120"/>
              </a:rPr>
              <a:t>This presentation represents equal contribution from all group members. Tasks were distributed across data cleaning, exploratory analysis, machine learning modeling, Power BI visualization, and presentation design. Every member actively participated in the interpretation of results and the formulation of strategic recommendations.</a:t>
            </a:r>
            <a:endParaRPr lang="en-US" sz="1050" dirty="0"/>
          </a:p>
        </p:txBody>
      </p:sp>
      <p:sp>
        <p:nvSpPr>
          <p:cNvPr id="12" name="Text 10"/>
          <p:cNvSpPr/>
          <p:nvPr/>
        </p:nvSpPr>
        <p:spPr>
          <a:xfrm>
            <a:off x="594360" y="4800600"/>
            <a:ext cx="8229600" cy="228600"/>
          </a:xfrm>
          <a:prstGeom prst="rect">
            <a:avLst/>
          </a:prstGeom>
          <a:noFill/>
          <a:ln/>
        </p:spPr>
        <p:txBody>
          <a:bodyPr wrap="square" rtlCol="0" anchor="ctr"/>
          <a:lstStyle/>
          <a:p>
            <a:pPr marL="0" indent="0">
              <a:buNone/>
            </a:pPr>
            <a:r>
              <a:rPr lang="en-US" sz="1000" dirty="0">
                <a:solidFill>
                  <a:srgbClr val="FFC220"/>
                </a:solidFill>
                <a:latin typeface="Calibri" pitchFamily="34" charset="0"/>
                <a:ea typeface="Calibri" pitchFamily="34" charset="-122"/>
                <a:cs typeface="Calibri" pitchFamily="34" charset="-120"/>
              </a:rPr>
              <a:t>Walmart Sales Analysis  ·  Data Analytics Group  ·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2112</Words>
  <Application>Microsoft Office PowerPoint</Application>
  <PresentationFormat>On-screen Show (16:9)</PresentationFormat>
  <Paragraphs>350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Walmart Sales Analysis</dc:title>
  <dc:subject>PptxGenJS Presentation</dc:subject>
  <dc:creator>Data Analytics Group</dc:creator>
  <cp:lastModifiedBy>احمد محمود مدحت صبحي</cp:lastModifiedBy>
  <cp:revision>2</cp:revision>
  <dcterms:created xsi:type="dcterms:W3CDTF">2026-05-17T16:49:00Z</dcterms:created>
  <dcterms:modified xsi:type="dcterms:W3CDTF">2026-05-18T12:08:04Z</dcterms:modified>
</cp:coreProperties>
</file>